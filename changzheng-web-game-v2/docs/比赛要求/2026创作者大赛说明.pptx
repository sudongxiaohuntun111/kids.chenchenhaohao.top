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62" r:id="rId5"/>
    <p:sldId id="263" r:id="rId6"/>
    <p:sldId id="265" r:id="rId7"/>
    <p:sldId id="266" r:id="rId8"/>
    <p:sldId id="267" r:id="rId9"/>
    <p:sldId id="268" r:id="rId10"/>
    <p:sldId id="270" r:id="rId11"/>
    <p:sldId id="271" r:id="rId12"/>
    <p:sldId id="272" r:id="rId13"/>
    <p:sldId id="273" r:id="rId14"/>
    <p:sldId id="274" r:id="rId15"/>
    <p:sldId id="282" r:id="rId16"/>
  </p:sldIdLst>
  <p:sldSz cx="12192000" cy="6858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hyperlink" Target="http://bzdt.ch.mnr.gov.cn/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41E2C"/>
            </a:gs>
            <a:gs pos="52000">
              <a:srgbClr val="2E2430"/>
            </a:gs>
            <a:gs pos="100000">
              <a:srgbClr val="6E1F16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r-1"/>
          <p:cNvSpPr/>
          <p:nvPr/>
        </p:nvSpPr>
        <p:spPr>
          <a:xfrm>
            <a:off x="1524000" y="762000"/>
            <a:ext cx="127000" cy="127000"/>
          </a:xfrm>
          <a:prstGeom prst="star4">
            <a:avLst/>
          </a:prstGeom>
          <a:solidFill>
            <a:srgbClr val="E8D9A8">
              <a:alpha val="90196"/>
            </a:srgbClr>
          </a:solidFill>
          <a:ln>
            <a:noFill/>
          </a:ln>
        </p:spPr>
      </p:sp>
      <p:sp>
        <p:nvSpPr>
          <p:cNvPr id="3" name="star-2"/>
          <p:cNvSpPr/>
          <p:nvPr/>
        </p:nvSpPr>
        <p:spPr>
          <a:xfrm>
            <a:off x="3810000" y="457200"/>
            <a:ext cx="76200" cy="76200"/>
          </a:xfrm>
          <a:prstGeom prst="star4">
            <a:avLst/>
          </a:prstGeom>
          <a:solidFill>
            <a:srgbClr val="E8D9A8">
              <a:alpha val="60000"/>
            </a:srgbClr>
          </a:solidFill>
          <a:ln>
            <a:noFill/>
          </a:ln>
        </p:spPr>
      </p:sp>
      <p:sp>
        <p:nvSpPr>
          <p:cNvPr id="4" name="star-3"/>
          <p:cNvSpPr/>
          <p:nvPr/>
        </p:nvSpPr>
        <p:spPr>
          <a:xfrm>
            <a:off x="6604000" y="990600"/>
            <a:ext cx="101600" cy="101600"/>
          </a:xfrm>
          <a:prstGeom prst="star4">
            <a:avLst/>
          </a:prstGeom>
          <a:solidFill>
            <a:srgbClr val="F2E7C4">
              <a:alpha val="80000"/>
            </a:srgbClr>
          </a:solidFill>
          <a:ln>
            <a:noFill/>
          </a:ln>
        </p:spPr>
      </p:sp>
      <p:sp>
        <p:nvSpPr>
          <p:cNvPr id="5" name="star-4"/>
          <p:cNvSpPr/>
          <p:nvPr/>
        </p:nvSpPr>
        <p:spPr>
          <a:xfrm>
            <a:off x="8890000" y="558800"/>
            <a:ext cx="152400" cy="152400"/>
          </a:xfrm>
          <a:prstGeom prst="star4">
            <a:avLst/>
          </a:prstGeom>
          <a:solidFill>
            <a:srgbClr val="E8D9A8">
              <a:alpha val="90196"/>
            </a:srgbClr>
          </a:solidFill>
          <a:ln>
            <a:noFill/>
          </a:ln>
        </p:spPr>
      </p:sp>
      <p:sp>
        <p:nvSpPr>
          <p:cNvPr id="6" name="star-5"/>
          <p:cNvSpPr/>
          <p:nvPr/>
        </p:nvSpPr>
        <p:spPr>
          <a:xfrm>
            <a:off x="10668000" y="1219200"/>
            <a:ext cx="76200" cy="76200"/>
          </a:xfrm>
          <a:prstGeom prst="star4">
            <a:avLst/>
          </a:prstGeom>
          <a:solidFill>
            <a:srgbClr val="F2E7C4">
              <a:alpha val="54902"/>
            </a:srgbClr>
          </a:solidFill>
          <a:ln>
            <a:noFill/>
          </a:ln>
        </p:spPr>
      </p:sp>
      <p:sp>
        <p:nvSpPr>
          <p:cNvPr id="7" name="star-6"/>
          <p:cNvSpPr/>
          <p:nvPr/>
        </p:nvSpPr>
        <p:spPr>
          <a:xfrm>
            <a:off x="7874000" y="1651000"/>
            <a:ext cx="63500" cy="63500"/>
          </a:xfrm>
          <a:prstGeom prst="star4">
            <a:avLst/>
          </a:prstGeom>
          <a:solidFill>
            <a:srgbClr val="E8D9A8">
              <a:alpha val="50196"/>
            </a:srgbClr>
          </a:solidFill>
          <a:ln>
            <a:noFill/>
          </a:ln>
        </p:spPr>
      </p:sp>
      <p:sp>
        <p:nvSpPr>
          <p:cNvPr id="8" name="star-7"/>
          <p:cNvSpPr/>
          <p:nvPr/>
        </p:nvSpPr>
        <p:spPr>
          <a:xfrm>
            <a:off x="2540000" y="1651000"/>
            <a:ext cx="63500" cy="63500"/>
          </a:xfrm>
          <a:prstGeom prst="star4">
            <a:avLst/>
          </a:prstGeom>
          <a:solidFill>
            <a:srgbClr val="F2E7C4">
              <a:alpha val="45098"/>
            </a:srgbClr>
          </a:solidFill>
          <a:ln>
            <a:noFill/>
          </a:ln>
        </p:spPr>
      </p:sp>
      <p:sp>
        <p:nvSpPr>
          <p:cNvPr id="9" name="star-8"/>
          <p:cNvSpPr/>
          <p:nvPr/>
        </p:nvSpPr>
        <p:spPr>
          <a:xfrm>
            <a:off x="5334000" y="381000"/>
            <a:ext cx="50800" cy="50800"/>
          </a:xfrm>
          <a:prstGeom prst="star4">
            <a:avLst/>
          </a:prstGeom>
          <a:solidFill>
            <a:srgbClr val="E8D9A8">
              <a:alpha val="50196"/>
            </a:srgbClr>
          </a:solidFill>
          <a:ln>
            <a:noFill/>
          </a:ln>
        </p:spPr>
      </p:sp>
      <p:sp>
        <p:nvSpPr>
          <p:cNvPr id="10" name="mountains-back"/>
          <p:cNvSpPr/>
          <p:nvPr/>
        </p:nvSpPr>
        <p:spPr>
          <a:xfrm>
            <a:off x="0" y="4191000"/>
            <a:ext cx="12192000" cy="2667000"/>
          </a:xfrm>
          <a:custGeom>
            <a:avLst/>
            <a:gdLst/>
            <a:ahLst/>
            <a:cxnLst/>
            <a:rect l="l" t="t" r="r" b="b"/>
            <a:pathLst>
              <a:path w="960" h="210">
                <a:moveTo>
                  <a:pt x="0" y="210"/>
                </a:moveTo>
                <a:lnTo>
                  <a:pt x="0" y="120"/>
                </a:lnTo>
                <a:lnTo>
                  <a:pt x="140" y="40"/>
                </a:lnTo>
                <a:lnTo>
                  <a:pt x="260" y="110"/>
                </a:lnTo>
                <a:lnTo>
                  <a:pt x="380" y="30"/>
                </a:lnTo>
                <a:lnTo>
                  <a:pt x="520" y="120"/>
                </a:lnTo>
                <a:lnTo>
                  <a:pt x="640" y="60"/>
                </a:lnTo>
                <a:lnTo>
                  <a:pt x="780" y="130"/>
                </a:lnTo>
                <a:lnTo>
                  <a:pt x="880" y="80"/>
                </a:lnTo>
                <a:lnTo>
                  <a:pt x="960" y="120"/>
                </a:lnTo>
                <a:lnTo>
                  <a:pt x="960" y="210"/>
                </a:lnTo>
                <a:close/>
              </a:path>
            </a:pathLst>
          </a:custGeom>
          <a:solidFill>
            <a:srgbClr val="40150E">
              <a:alpha val="85098"/>
            </a:srgbClr>
          </a:solidFill>
          <a:ln>
            <a:noFill/>
          </a:ln>
        </p:spPr>
      </p:sp>
      <p:sp>
        <p:nvSpPr>
          <p:cNvPr id="11" name="mountains-front"/>
          <p:cNvSpPr/>
          <p:nvPr/>
        </p:nvSpPr>
        <p:spPr>
          <a:xfrm>
            <a:off x="0" y="5080000"/>
            <a:ext cx="12192000" cy="1778000"/>
          </a:xfrm>
          <a:custGeom>
            <a:avLst/>
            <a:gdLst/>
            <a:ahLst/>
            <a:cxnLst/>
            <a:rect l="l" t="t" r="r" b="b"/>
            <a:pathLst>
              <a:path w="960" h="140">
                <a:moveTo>
                  <a:pt x="0" y="140"/>
                </a:moveTo>
                <a:lnTo>
                  <a:pt x="0" y="70"/>
                </a:lnTo>
                <a:lnTo>
                  <a:pt x="180" y="10"/>
                </a:lnTo>
                <a:lnTo>
                  <a:pt x="340" y="80"/>
                </a:lnTo>
                <a:lnTo>
                  <a:pt x="520" y="20"/>
                </a:lnTo>
                <a:lnTo>
                  <a:pt x="700" y="90"/>
                </a:lnTo>
                <a:lnTo>
                  <a:pt x="840" y="40"/>
                </a:lnTo>
                <a:lnTo>
                  <a:pt x="960" y="80"/>
                </a:lnTo>
                <a:lnTo>
                  <a:pt x="960" y="140"/>
                </a:lnTo>
                <a:close/>
              </a:path>
            </a:pathLst>
          </a:custGeom>
          <a:solidFill>
            <a:srgbClr val="2A0D08"/>
          </a:solidFill>
          <a:ln>
            <a:noFill/>
          </a:ln>
        </p:spPr>
      </p:sp>
      <p:sp>
        <p:nvSpPr>
          <p:cNvPr id="12" name="kicker"/>
          <p:cNvSpPr txBox="1"/>
          <p:nvPr/>
        </p:nvSpPr>
        <p:spPr>
          <a:xfrm>
            <a:off x="1016000" y="1549400"/>
            <a:ext cx="1016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50" kern="0" spc="300" noProof="1">
                <a:solidFill>
                  <a:srgbClr val="D9C89A"/>
                </a:solidFill>
                <a:latin typeface="MiSans"/>
                <a:ea typeface="MiSans"/>
              </a:rPr>
              <a:t>中国人民大学附属中学 及 中国人民大学附属中学联合学校总校</a:t>
            </a:r>
            <a:endParaRPr lang="en-US" sz="1350" noProof="1"/>
          </a:p>
        </p:txBody>
      </p:sp>
      <p:sp>
        <p:nvSpPr>
          <p:cNvPr id="13" name="title"/>
          <p:cNvSpPr txBox="1"/>
          <p:nvPr/>
        </p:nvSpPr>
        <p:spPr>
          <a:xfrm>
            <a:off x="1016000" y="1930400"/>
            <a:ext cx="101600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600" b="1" noProof="1">
                <a:solidFill>
                  <a:srgbClr val="FAF6EF"/>
                </a:solidFill>
                <a:latin typeface="思源宋体"/>
                <a:ea typeface="思源宋体"/>
              </a:rPr>
              <a:t>第三届校园 AI 创作者大赛</a:t>
            </a:r>
            <a:endParaRPr lang="en-US" sz="4600" noProof="1"/>
          </a:p>
        </p:txBody>
      </p:sp>
      <p:sp>
        <p:nvSpPr>
          <p:cNvPr id="14" name="subtitle"/>
          <p:cNvSpPr txBox="1"/>
          <p:nvPr/>
        </p:nvSpPr>
        <p:spPr>
          <a:xfrm>
            <a:off x="1016000" y="28448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100" kern="0" spc="600" noProof="1">
                <a:solidFill>
                  <a:srgbClr val="E8D9A8"/>
                </a:solidFill>
                <a:latin typeface="思源宋体"/>
                <a:ea typeface="思源宋体"/>
              </a:rPr>
              <a:t>长征 · 从烽火到星辰</a:t>
            </a:r>
            <a:endParaRPr lang="en-US" sz="2100" noProof="1"/>
          </a:p>
        </p:txBody>
      </p:sp>
      <p:sp>
        <p:nvSpPr>
          <p:cNvPr id="15" name="divider-line"/>
          <p:cNvSpPr/>
          <p:nvPr/>
        </p:nvSpPr>
        <p:spPr>
          <a:xfrm>
            <a:off x="1041400" y="3454400"/>
            <a:ext cx="71120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6" name="brief"/>
          <p:cNvSpPr txBox="1"/>
          <p:nvPr/>
        </p:nvSpPr>
        <p:spPr>
          <a:xfrm>
            <a:off x="1016000" y="3657600"/>
            <a:ext cx="9144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zh-CN" altLang="en-US" sz="1500" noProof="1">
                <a:solidFill>
                  <a:srgbClr val="D8CFC4"/>
                </a:solidFill>
                <a:latin typeface="MiSans"/>
                <a:ea typeface="MiSans"/>
              </a:rPr>
              <a:t>活动</a:t>
            </a:r>
            <a:r>
              <a:rPr lang="en-US" sz="1500" noProof="1">
                <a:solidFill>
                  <a:srgbClr val="D8CFC4"/>
                </a:solidFill>
                <a:latin typeface="MiSans"/>
                <a:ea typeface="MiSans"/>
              </a:rPr>
              <a:t>说明会 </a:t>
            </a:r>
            <a:endParaRPr lang="en-US" sz="15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508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endParaRPr lang="en-US" sz="16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62000"/>
            <a:ext cx="8890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 algn="l">
              <a:lnSpc>
                <a:spcPct val="120000"/>
              </a:lnSpc>
            </a:pPr>
            <a:r>
              <a:rPr lang="zh-CN" altLang="en-US" sz="3200" noProof="1"/>
              <a:t>要点</a:t>
            </a:r>
            <a:endParaRPr lang="en-US" sz="3200" noProof="1"/>
          </a:p>
          <a:p>
            <a:pPr>
              <a:lnSpc>
                <a:spcPct val="120000"/>
              </a:lnSpc>
            </a:pPr>
            <a:endParaRPr lang="en-US" sz="3200" noProof="1"/>
          </a:p>
        </p:txBody>
      </p:sp>
      <p:sp>
        <p:nvSpPr>
          <p:cNvPr id="4" name="title-bar"/>
          <p:cNvSpPr/>
          <p:nvPr/>
        </p:nvSpPr>
        <p:spPr>
          <a:xfrm>
            <a:off x="762000" y="1346200"/>
            <a:ext cx="431800" cy="38100"/>
          </a:xfrm>
          <a:prstGeom prst="rect">
            <a:avLst/>
          </a:prstGeom>
          <a:solidFill>
            <a:srgbClr val="A82E22"/>
          </a:solidFill>
          <a:ln>
            <a:noFill/>
          </a:ln>
        </p:spPr>
      </p:sp>
      <p:sp>
        <p:nvSpPr>
          <p:cNvPr id="5" name="toc-list"/>
          <p:cNvSpPr txBox="1"/>
          <p:nvPr/>
        </p:nvSpPr>
        <p:spPr>
          <a:xfrm>
            <a:off x="762000" y="1651000"/>
            <a:ext cx="7112000" cy="444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2400" b="1" noProof="1">
                <a:solidFill>
                  <a:srgbClr val="2B2320"/>
                </a:solidFill>
                <a:latin typeface="MiSans"/>
                <a:ea typeface="MiSans"/>
              </a:rPr>
              <a:t>赛事整体介绍</a:t>
            </a:r>
            <a:endParaRPr lang="en-US" sz="2800" noProof="1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2400" b="1" noProof="1">
                <a:solidFill>
                  <a:srgbClr val="2B2320"/>
                </a:solidFill>
                <a:latin typeface="MiSans"/>
                <a:ea typeface="MiSans"/>
              </a:rPr>
              <a:t>各赛道要求说明</a:t>
            </a:r>
            <a:endParaRPr lang="en-US" sz="2800" noProof="1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2400" b="1" noProof="1">
                <a:solidFill>
                  <a:srgbClr val="2B2320"/>
                </a:solidFill>
                <a:latin typeface="MiSans"/>
                <a:ea typeface="MiSans"/>
              </a:rPr>
              <a:t>学科参考资料与自查清单</a:t>
            </a:r>
            <a:endParaRPr lang="en-US" sz="2800" noProof="1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endParaRPr lang="en-US" sz="2400" b="1" noProof="1">
              <a:solidFill>
                <a:srgbClr val="2B2320"/>
              </a:solidFill>
              <a:latin typeface="MiSans"/>
              <a:ea typeface="MiSans"/>
            </a:endParaRPr>
          </a:p>
        </p:txBody>
      </p:sp>
      <p:sp>
        <p:nvSpPr>
          <p:cNvPr id="6" name="side-rule"/>
          <p:cNvSpPr/>
          <p:nvPr/>
        </p:nvSpPr>
        <p:spPr>
          <a:xfrm>
            <a:off x="8382000" y="1651000"/>
            <a:ext cx="12700" cy="4318000"/>
          </a:xfrm>
          <a:prstGeom prst="rect">
            <a:avLst/>
          </a:prstGeom>
          <a:solidFill>
            <a:srgbClr val="E4DACA"/>
          </a:solidFill>
          <a:ln>
            <a:noFill/>
          </a:ln>
        </p:spPr>
      </p:sp>
      <p:sp>
        <p:nvSpPr>
          <p:cNvPr id="7" name="side-note-title"/>
          <p:cNvSpPr txBox="1"/>
          <p:nvPr/>
        </p:nvSpPr>
        <p:spPr>
          <a:xfrm>
            <a:off x="8763000" y="1651000"/>
            <a:ext cx="279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A82E22"/>
                </a:solidFill>
                <a:latin typeface="MiSans"/>
                <a:ea typeface="MiSans"/>
              </a:rPr>
              <a:t>两份依据文件</a:t>
            </a:r>
            <a:endParaRPr lang="en-US" sz="1600" b="1" noProof="1">
              <a:solidFill>
                <a:srgbClr val="A82E22"/>
              </a:solidFill>
              <a:latin typeface="MiSans"/>
              <a:ea typeface="MiSans"/>
            </a:endParaRPr>
          </a:p>
        </p:txBody>
      </p:sp>
      <p:sp>
        <p:nvSpPr>
          <p:cNvPr id="8" name="side-note"/>
          <p:cNvSpPr txBox="1"/>
          <p:nvPr/>
        </p:nvSpPr>
        <p:spPr>
          <a:xfrm>
            <a:off x="8763000" y="2006600"/>
            <a:ext cx="2794000" cy="304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noProof="1">
                <a:solidFill>
                  <a:srgbClr val="8A7F72"/>
                </a:solidFill>
                <a:latin typeface="MiSans"/>
                <a:ea typeface="MiSans"/>
              </a:rPr>
              <a:t>《2026第三届校园AI创作者大赛参赛通知》</a:t>
            </a:r>
            <a:endParaRPr lang="en-US" sz="1400" noProof="1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400" noProof="1">
                <a:solidFill>
                  <a:srgbClr val="8A7F72"/>
                </a:solidFill>
                <a:latin typeface="MiSans"/>
                <a:ea typeface="MiSans"/>
              </a:rPr>
              <a:t>《2026第三届校园AI创作者大赛组织工作说明》（含附件一平台账号、附件二联合复评评价方式及标准）</a:t>
            </a:r>
            <a:endParaRPr lang="en-US" sz="1400" noProof="1"/>
          </a:p>
          <a:p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400" noProof="1">
                <a:solidFill>
                  <a:srgbClr val="8A7F72"/>
                </a:solidFill>
                <a:latin typeface="MiSans"/>
                <a:ea typeface="MiSans"/>
              </a:rPr>
              <a:t>本说明会内容如与组委会最新通知不一致，以最新通知为准。</a:t>
            </a:r>
            <a:endParaRPr lang="en-US" sz="1400" noProof="1">
              <a:solidFill>
                <a:srgbClr val="8A7F72"/>
              </a:solidFill>
              <a:latin typeface="MiSans"/>
              <a:ea typeface="MiSans"/>
            </a:endParaRPr>
          </a:p>
        </p:txBody>
      </p:sp>
      <p:sp>
        <p:nvSpPr>
          <p:cNvPr id="9" name="footer-rule"/>
          <p:cNvSpPr/>
          <p:nvPr/>
        </p:nvSpPr>
        <p:spPr>
          <a:xfrm>
            <a:off x="762000" y="6502400"/>
            <a:ext cx="10668000" cy="12700"/>
          </a:xfrm>
          <a:prstGeom prst="rect">
            <a:avLst/>
          </a:prstGeom>
          <a:solidFill>
            <a:srgbClr val="E4DACA"/>
          </a:solidFill>
          <a:ln>
            <a:noFill/>
          </a:ln>
        </p:spPr>
      </p:sp>
      <p:sp>
        <p:nvSpPr>
          <p:cNvPr id="10" name="footer-left"/>
          <p:cNvSpPr txBox="1"/>
          <p:nvPr/>
        </p:nvSpPr>
        <p:spPr>
          <a:xfrm>
            <a:off x="762000" y="6604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8A7F72"/>
                </a:solidFill>
                <a:latin typeface="MiSans"/>
                <a:ea typeface="MiSans"/>
              </a:rPr>
              <a:t>2026第三届校园AI创作者大赛 · 赛事说明</a:t>
            </a:r>
            <a:endParaRPr lang="en-US" sz="1400" noProof="1">
              <a:solidFill>
                <a:srgbClr val="8A7F72"/>
              </a:solidFill>
              <a:latin typeface="MiSans"/>
              <a:ea typeface="MiSans"/>
            </a:endParaRPr>
          </a:p>
        </p:txBody>
      </p:sp>
      <p:sp>
        <p:nvSpPr>
          <p:cNvPr id="11" name="footer-page"/>
          <p:cNvSpPr txBox="1"/>
          <p:nvPr/>
        </p:nvSpPr>
        <p:spPr>
          <a:xfrm>
            <a:off x="10414000" y="66040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400" noProof="1">
                <a:solidFill>
                  <a:srgbClr val="8A7F72"/>
                </a:solidFill>
                <a:latin typeface="MiSans"/>
                <a:ea typeface="MiSans"/>
              </a:rPr>
              <a:t>02 / 28</a:t>
            </a:r>
            <a:endParaRPr lang="en-US" sz="1400" noProof="1">
              <a:solidFill>
                <a:srgbClr val="8A7F72"/>
              </a:solidFill>
              <a:latin typeface="MiSans"/>
              <a:ea typeface="Mi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064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A82E22"/>
                </a:solidFill>
                <a:latin typeface="MiSans"/>
                <a:ea typeface="MiSans"/>
              </a:rPr>
              <a:t> 赛事整体介绍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6604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700" b="1" noProof="1">
                <a:solidFill>
                  <a:srgbClr val="2B2320"/>
                </a:solidFill>
                <a:latin typeface="思源宋体"/>
                <a:ea typeface="思源宋体"/>
              </a:rPr>
              <a:t>三个赛道 × 两个创作方向</a:t>
            </a:r>
            <a:endParaRPr lang="en-US" sz="2700" noProof="1"/>
          </a:p>
        </p:txBody>
      </p:sp>
      <p:sp>
        <p:nvSpPr>
          <p:cNvPr id="4" name="title-bar"/>
          <p:cNvSpPr/>
          <p:nvPr/>
        </p:nvSpPr>
        <p:spPr>
          <a:xfrm>
            <a:off x="762000" y="1244600"/>
            <a:ext cx="431800" cy="38100"/>
          </a:xfrm>
          <a:prstGeom prst="rect">
            <a:avLst/>
          </a:prstGeom>
          <a:solidFill>
            <a:srgbClr val="A82E22"/>
          </a:solidFill>
          <a:ln>
            <a:noFill/>
          </a:ln>
        </p:spPr>
      </p:sp>
      <p:sp>
        <p:nvSpPr>
          <p:cNvPr id="5" name="theme-line"/>
          <p:cNvSpPr txBox="1"/>
          <p:nvPr/>
        </p:nvSpPr>
        <p:spPr>
          <a:xfrm>
            <a:off x="762000" y="1422400"/>
            <a:ext cx="1066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noProof="1">
                <a:solidFill>
                  <a:srgbClr val="2B2320"/>
                </a:solidFill>
                <a:latin typeface="MiSans"/>
                <a:ea typeface="MiSans"/>
              </a:rPr>
              <a:t>主题｜</a:t>
            </a:r>
            <a:r>
              <a:rPr lang="en-US" b="1" noProof="1">
                <a:solidFill>
                  <a:srgbClr val="A82E22"/>
                </a:solidFill>
                <a:latin typeface="MiSans"/>
                <a:ea typeface="MiSans"/>
              </a:rPr>
              <a:t>长征：从烽火到星辰</a:t>
            </a:r>
            <a:r>
              <a:rPr lang="en-US" noProof="1">
                <a:solidFill>
                  <a:srgbClr val="2B2320"/>
                </a:solidFill>
                <a:latin typeface="MiSans"/>
                <a:ea typeface="MiSans"/>
              </a:rPr>
              <a:t>　——　纪念中国工农红军长征胜利 90 周年</a:t>
            </a:r>
            <a:endParaRPr lang="en-US" noProof="1">
              <a:solidFill>
                <a:srgbClr val="2B2320"/>
              </a:solidFill>
              <a:latin typeface="MiSans"/>
              <a:ea typeface="MiSans"/>
            </a:endParaRPr>
          </a:p>
        </p:txBody>
      </p:sp>
      <p:sp>
        <p:nvSpPr>
          <p:cNvPr id="6" name="intro"/>
          <p:cNvSpPr txBox="1"/>
          <p:nvPr/>
        </p:nvSpPr>
        <p:spPr>
          <a:xfrm>
            <a:off x="762000" y="1828800"/>
            <a:ext cx="10668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600" noProof="1">
                <a:solidFill>
                  <a:srgbClr val="8A7F72"/>
                </a:solidFill>
                <a:latin typeface="MiSans"/>
                <a:ea typeface="MiSans"/>
              </a:rPr>
              <a:t>落实《教育发展"十五五"规划》关于推进人工智能全学段教育、提升学生人工智能素养和问题解决能力的要求，倡导科学教育"做中学"。引导学生走近长征历史，在可靠史料和学科知识的基础上理解具体人物、事件与自然环境；关注我国科技创新、重大工程和社会发展，思考长征精神在新时代的传承与实践。</a:t>
            </a:r>
            <a:endParaRPr lang="en-US" sz="1600" noProof="1">
              <a:solidFill>
                <a:srgbClr val="8A7F72"/>
              </a:solidFill>
              <a:latin typeface="MiSans"/>
              <a:ea typeface="MiSans"/>
            </a:endParaRPr>
          </a:p>
        </p:txBody>
      </p:sp>
      <p:graphicFrame>
        <p:nvGraphicFramePr>
          <p:cNvPr id="7" name="track-table"/>
          <p:cNvGraphicFramePr>
            <a:graphicFrameLocks noGrp="1"/>
          </p:cNvGraphicFramePr>
          <p:nvPr/>
        </p:nvGraphicFramePr>
        <p:xfrm>
          <a:off x="762000" y="2970530"/>
          <a:ext cx="10668000" cy="3048000"/>
        </p:xfrm>
        <a:graphic>
          <a:graphicData uri="http://schemas.openxmlformats.org/drawingml/2006/table">
            <a:tbl>
              <a:tblPr/>
              <a:tblGrid>
                <a:gridCol w="1920240"/>
                <a:gridCol w="4373880"/>
                <a:gridCol w="4373880"/>
              </a:tblGrid>
              <a:tr h="487680"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lang="en-US" sz="13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赛道</a:t>
                      </a:r>
                      <a:endParaRPr lang="en-US" sz="13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DACA"/>
                      </a:solidFill>
                    </a:lnB>
                    <a:solidFill>
                      <a:srgbClr val="A82E22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lang="en-US" sz="13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历史回望方向</a:t>
                      </a:r>
                      <a:endParaRPr lang="en-US" sz="13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DACA"/>
                      </a:solidFill>
                    </a:lnB>
                    <a:solidFill>
                      <a:srgbClr val="A82E22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lang="en-US" sz="13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时代征程方向</a:t>
                      </a:r>
                      <a:endParaRPr lang="en-US" sz="13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DACA"/>
                      </a:solidFill>
                    </a:lnB>
                    <a:solidFill>
                      <a:srgbClr val="A82E22"/>
                    </a:solidFill>
                  </a:tcPr>
                </a:tc>
              </a:tr>
              <a:tr h="853440"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lang="en-US" sz="1600" b="1" noProof="1">
                          <a:solidFill>
                            <a:srgbClr val="2B232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数智美术</a:t>
                      </a:r>
                      <a:endParaRPr lang="en-US" sz="1600" b="1" noProof="1">
                        <a:solidFill>
                          <a:srgbClr val="2B232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DAC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600" b="1" noProof="1">
                          <a:solidFill>
                            <a:srgbClr val="2B232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微光绘史</a:t>
                      </a:r>
                      <a:r>
                        <a:rPr lang="en-US" sz="1600" noProof="1">
                          <a:solidFill>
                            <a:srgbClr val="2B232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　具体人、事、物中的信念与奉献</a:t>
                      </a:r>
                      <a:endParaRPr lang="en-US" sz="1600" noProof="1">
                        <a:solidFill>
                          <a:srgbClr val="2B232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400" noProof="1">
                          <a:solidFill>
                            <a:srgbClr val="8A7F72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数字绘本 / 概念插画 / 微短片</a:t>
                      </a:r>
                      <a:endParaRPr lang="en-US" sz="1400" noProof="1">
                        <a:solidFill>
                          <a:srgbClr val="8A7F72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DAC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600" b="1" noProof="1">
                          <a:solidFill>
                            <a:srgbClr val="2B232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星辰绘境</a:t>
                      </a:r>
                      <a:r>
                        <a:rPr lang="en-US" sz="1600" noProof="1">
                          <a:solidFill>
                            <a:srgbClr val="2B232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　重大科技攻关的未来视觉表达</a:t>
                      </a:r>
                      <a:endParaRPr lang="en-US" sz="1600" noProof="1">
                        <a:solidFill>
                          <a:srgbClr val="2B232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400" noProof="1">
                          <a:solidFill>
                            <a:srgbClr val="8A7F72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数字绘本 / 概念插画 / 微短片</a:t>
                      </a:r>
                      <a:endParaRPr lang="en-US" sz="1400" noProof="1">
                        <a:solidFill>
                          <a:srgbClr val="8A7F72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DAC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lang="en-US" sz="1600" b="1" noProof="1">
                          <a:solidFill>
                            <a:srgbClr val="2B232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数智音乐</a:t>
                      </a:r>
                      <a:endParaRPr lang="en-US" sz="1600" b="1" noProof="1">
                        <a:solidFill>
                          <a:srgbClr val="2B232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DACA"/>
                      </a:solidFill>
                    </a:lnB>
                    <a:solidFill>
                      <a:srgbClr val="F3EDE2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600" b="1" noProof="1">
                          <a:solidFill>
                            <a:srgbClr val="2B232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长征回响</a:t>
                      </a:r>
                      <a:r>
                        <a:rPr lang="en-US" sz="1600" noProof="1">
                          <a:solidFill>
                            <a:srgbClr val="2B232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　依据长征诗词、亲历者记录创作</a:t>
                      </a:r>
                      <a:endParaRPr lang="en-US" sz="1600" noProof="1">
                        <a:solidFill>
                          <a:srgbClr val="2B232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400" noProof="1">
                          <a:solidFill>
                            <a:srgbClr val="8A7F72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纯音乐 / 原创歌曲</a:t>
                      </a:r>
                      <a:endParaRPr lang="en-US" sz="1400" noProof="1">
                        <a:solidFill>
                          <a:srgbClr val="8A7F72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DACA"/>
                      </a:solidFill>
                    </a:lnB>
                    <a:solidFill>
                      <a:srgbClr val="F3EDE2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600" b="1" noProof="1">
                          <a:solidFill>
                            <a:srgbClr val="2B232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时代新声</a:t>
                      </a:r>
                      <a:r>
                        <a:rPr lang="en-US" sz="1600" noProof="1">
                          <a:solidFill>
                            <a:srgbClr val="2B232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　新时代奋斗主题音乐创作</a:t>
                      </a:r>
                      <a:endParaRPr lang="en-US" sz="1600" noProof="1">
                        <a:solidFill>
                          <a:srgbClr val="2B232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400" noProof="1">
                          <a:solidFill>
                            <a:srgbClr val="8A7F72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纯音乐 / 原创歌曲</a:t>
                      </a:r>
                      <a:endParaRPr lang="en-US" sz="1400" noProof="1">
                        <a:solidFill>
                          <a:srgbClr val="8A7F72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DACA"/>
                      </a:solidFill>
                    </a:lnB>
                    <a:solidFill>
                      <a:srgbClr val="F3EDE2"/>
                    </a:solidFill>
                  </a:tcPr>
                </a:tc>
              </a:tr>
              <a:tr h="853440"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lang="en-US" sz="1600" b="1" noProof="1">
                          <a:solidFill>
                            <a:srgbClr val="2B232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数智交互</a:t>
                      </a:r>
                      <a:endParaRPr lang="en-US" sz="1600" b="1" noProof="1">
                        <a:solidFill>
                          <a:srgbClr val="2B232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DAC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600" b="1" noProof="1">
                          <a:solidFill>
                            <a:srgbClr val="2B232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险阻解码</a:t>
                      </a:r>
                      <a:r>
                        <a:rPr lang="en-US" sz="1600" noProof="1">
                          <a:solidFill>
                            <a:srgbClr val="2B232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　交互网页解释自然险阻与行军</a:t>
                      </a:r>
                      <a:endParaRPr lang="en-US" sz="1600" noProof="1">
                        <a:solidFill>
                          <a:srgbClr val="2B232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400" noProof="1">
                          <a:solidFill>
                            <a:srgbClr val="8A7F72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地理方向 · 响应式交互网页</a:t>
                      </a:r>
                      <a:endParaRPr lang="en-US" sz="1400" noProof="1">
                        <a:solidFill>
                          <a:srgbClr val="8A7F72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DAC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600" b="1" noProof="1">
                          <a:solidFill>
                            <a:srgbClr val="2B232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未来推演</a:t>
                      </a:r>
                      <a:r>
                        <a:rPr lang="en-US" sz="1600" noProof="1">
                          <a:solidFill>
                            <a:srgbClr val="2B232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　未来任务背景的策略叙事游戏</a:t>
                      </a:r>
                      <a:endParaRPr lang="en-US" sz="1600" noProof="1">
                        <a:solidFill>
                          <a:srgbClr val="2B232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400" noProof="1">
                          <a:solidFill>
                            <a:srgbClr val="8A7F72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游戏方向 · 响应式交互网页</a:t>
                      </a:r>
                      <a:endParaRPr lang="en-US" sz="1400" noProof="1">
                        <a:solidFill>
                          <a:srgbClr val="8A7F72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DAC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note"/>
          <p:cNvSpPr txBox="1"/>
          <p:nvPr/>
        </p:nvSpPr>
        <p:spPr>
          <a:xfrm>
            <a:off x="762000" y="6036945"/>
            <a:ext cx="10668000" cy="3384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8A7F72"/>
                </a:solidFill>
                <a:latin typeface="MiSans"/>
                <a:ea typeface="MiSans"/>
              </a:rPr>
              <a:t>每件作品选择 </a:t>
            </a:r>
            <a:r>
              <a:rPr lang="en-US" sz="1200" b="1" noProof="1">
                <a:solidFill>
                  <a:srgbClr val="A82E22"/>
                </a:solidFill>
                <a:latin typeface="MiSans"/>
                <a:ea typeface="MiSans"/>
              </a:rPr>
              <a:t>1 个赛道和 1 个创作方向</a:t>
            </a:r>
            <a:r>
              <a:rPr lang="en-US" sz="1200" noProof="1">
                <a:solidFill>
                  <a:srgbClr val="8A7F72"/>
                </a:solidFill>
                <a:latin typeface="MiSans"/>
                <a:ea typeface="MiSans"/>
              </a:rPr>
              <a:t>，不接受同一作品跨赛道重复参评。各赛道作品规格详见第 03 部分。</a:t>
            </a:r>
            <a:endParaRPr lang="en-US" sz="1200" noProof="1"/>
          </a:p>
        </p:txBody>
      </p:sp>
      <p:sp>
        <p:nvSpPr>
          <p:cNvPr id="9" name="footer-rule"/>
          <p:cNvSpPr/>
          <p:nvPr/>
        </p:nvSpPr>
        <p:spPr>
          <a:xfrm>
            <a:off x="762000" y="6502400"/>
            <a:ext cx="10668000" cy="12700"/>
          </a:xfrm>
          <a:prstGeom prst="rect">
            <a:avLst/>
          </a:prstGeom>
          <a:solidFill>
            <a:srgbClr val="E4DACA"/>
          </a:solidFill>
          <a:ln>
            <a:noFill/>
          </a:ln>
        </p:spPr>
      </p:sp>
      <p:sp>
        <p:nvSpPr>
          <p:cNvPr id="10" name="footer-left"/>
          <p:cNvSpPr txBox="1"/>
          <p:nvPr/>
        </p:nvSpPr>
        <p:spPr>
          <a:xfrm>
            <a:off x="762000" y="6604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8A7F72"/>
                </a:solidFill>
                <a:latin typeface="MiSans"/>
                <a:ea typeface="MiSans"/>
              </a:rPr>
              <a:t>2026第三届校园AI创作者大赛 · 赛事说明</a:t>
            </a:r>
            <a:endParaRPr lang="en-US" sz="1000" noProof="1"/>
          </a:p>
        </p:txBody>
      </p:sp>
      <p:sp>
        <p:nvSpPr>
          <p:cNvPr id="11" name="footer-page"/>
          <p:cNvSpPr txBox="1"/>
          <p:nvPr/>
        </p:nvSpPr>
        <p:spPr>
          <a:xfrm>
            <a:off x="10414000" y="66040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8A7F72"/>
                </a:solidFill>
                <a:latin typeface="MiSans"/>
                <a:ea typeface="MiSans"/>
              </a:rPr>
              <a:t>07 / 28</a:t>
            </a:r>
            <a:endParaRPr lang="en-US" sz="10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064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A82E22"/>
                </a:solidFill>
                <a:latin typeface="MiSans"/>
                <a:ea typeface="MiSans"/>
              </a:rPr>
              <a:t>02 · 赛事整体介绍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6604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700" b="1" noProof="1">
                <a:solidFill>
                  <a:srgbClr val="2B2320"/>
                </a:solidFill>
                <a:latin typeface="思源宋体"/>
                <a:ea typeface="思源宋体"/>
              </a:rPr>
              <a:t>参赛对象与基本规则</a:t>
            </a:r>
            <a:endParaRPr lang="en-US" sz="2700" noProof="1"/>
          </a:p>
        </p:txBody>
      </p:sp>
      <p:sp>
        <p:nvSpPr>
          <p:cNvPr id="4" name="title-bar"/>
          <p:cNvSpPr/>
          <p:nvPr/>
        </p:nvSpPr>
        <p:spPr>
          <a:xfrm>
            <a:off x="762000" y="1244600"/>
            <a:ext cx="431800" cy="38100"/>
          </a:xfrm>
          <a:prstGeom prst="rect">
            <a:avLst/>
          </a:prstGeom>
          <a:solidFill>
            <a:srgbClr val="A82E22"/>
          </a:solidFill>
          <a:ln>
            <a:noFill/>
          </a:ln>
        </p:spPr>
      </p:sp>
      <p:sp>
        <p:nvSpPr>
          <p:cNvPr id="5" name="rules-left"/>
          <p:cNvSpPr txBox="1"/>
          <p:nvPr/>
        </p:nvSpPr>
        <p:spPr>
          <a:xfrm>
            <a:off x="762000" y="1549400"/>
            <a:ext cx="5207000" cy="406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b="1" noProof="1">
                <a:solidFill>
                  <a:srgbClr val="A82E22"/>
                </a:solidFill>
                <a:latin typeface="MiSans"/>
                <a:ea typeface="MiSans"/>
              </a:rPr>
              <a:t>参赛对象</a:t>
            </a:r>
            <a:endParaRPr lang="en-US" noProof="1"/>
          </a:p>
          <a:p>
            <a:pPr algn="l">
              <a:lnSpc>
                <a:spcPct val="155000"/>
              </a:lnSpc>
            </a:pPr>
            <a:r>
              <a:rPr lang="en-US" noProof="1">
                <a:solidFill>
                  <a:srgbClr val="2B2320"/>
                </a:solidFill>
                <a:latin typeface="MiSans"/>
                <a:ea typeface="MiSans"/>
              </a:rPr>
              <a:t>人大附中联合学校总校</a:t>
            </a:r>
            <a:r>
              <a:rPr lang="en-US" b="1" noProof="1">
                <a:solidFill>
                  <a:srgbClr val="2B2320"/>
                </a:solidFill>
                <a:latin typeface="MiSans"/>
                <a:ea typeface="MiSans"/>
              </a:rPr>
              <a:t>在校学生</a:t>
            </a:r>
            <a:r>
              <a:rPr lang="en-US" noProof="1">
                <a:solidFill>
                  <a:srgbClr val="2B2320"/>
                </a:solidFill>
                <a:latin typeface="MiSans"/>
                <a:ea typeface="MiSans"/>
              </a:rPr>
              <a:t>，设高中、初中、小学三个组别。</a:t>
            </a:r>
            <a:endParaRPr lang="en-US" noProof="1"/>
          </a:p>
          <a:p>
            <a:pPr algn="l">
              <a:lnSpc>
                <a:spcPct val="155000"/>
              </a:lnSpc>
              <a:spcBef>
                <a:spcPts val="1400"/>
              </a:spcBef>
            </a:pPr>
            <a:r>
              <a:rPr lang="en-US" b="1" noProof="1">
                <a:solidFill>
                  <a:srgbClr val="A82E22"/>
                </a:solidFill>
                <a:latin typeface="MiSans"/>
                <a:ea typeface="MiSans"/>
              </a:rPr>
              <a:t>组队方式</a:t>
            </a:r>
            <a:endParaRPr lang="en-US" noProof="1"/>
          </a:p>
          <a:p>
            <a:pPr algn="l">
              <a:lnSpc>
                <a:spcPct val="155000"/>
              </a:lnSpc>
            </a:pPr>
            <a:r>
              <a:rPr lang="en-US" noProof="1">
                <a:solidFill>
                  <a:srgbClr val="2B2320"/>
                </a:solidFill>
                <a:latin typeface="MiSans"/>
                <a:ea typeface="MiSans"/>
              </a:rPr>
              <a:t>个人或团队参赛，团队</a:t>
            </a:r>
            <a:r>
              <a:rPr lang="en-US" b="1" noProof="1">
                <a:solidFill>
                  <a:srgbClr val="2B2320"/>
                </a:solidFill>
                <a:latin typeface="MiSans"/>
                <a:ea typeface="MiSans"/>
              </a:rPr>
              <a:t>不超过 3 人</a:t>
            </a:r>
            <a:r>
              <a:rPr lang="en-US" noProof="1">
                <a:solidFill>
                  <a:srgbClr val="2B2320"/>
                </a:solidFill>
                <a:latin typeface="MiSans"/>
                <a:ea typeface="MiSans"/>
              </a:rPr>
              <a:t>；每名学生只能参加 </a:t>
            </a:r>
            <a:r>
              <a:rPr lang="en-US" b="1" noProof="1">
                <a:solidFill>
                  <a:srgbClr val="2B2320"/>
                </a:solidFill>
                <a:latin typeface="MiSans"/>
                <a:ea typeface="MiSans"/>
              </a:rPr>
              <a:t>1 件作品</a:t>
            </a:r>
            <a:r>
              <a:rPr lang="en-US" noProof="1">
                <a:solidFill>
                  <a:srgbClr val="2B2320"/>
                </a:solidFill>
                <a:latin typeface="MiSans"/>
                <a:ea typeface="MiSans"/>
              </a:rPr>
              <a:t>；不得跨校、跨组别组队。</a:t>
            </a:r>
            <a:endParaRPr lang="en-US" noProof="1"/>
          </a:p>
          <a:p>
            <a:pPr algn="l">
              <a:lnSpc>
                <a:spcPct val="155000"/>
              </a:lnSpc>
              <a:spcBef>
                <a:spcPts val="1400"/>
              </a:spcBef>
            </a:pPr>
            <a:r>
              <a:rPr lang="en-US" b="1" noProof="1">
                <a:solidFill>
                  <a:srgbClr val="A82E22"/>
                </a:solidFill>
                <a:latin typeface="MiSans"/>
                <a:ea typeface="MiSans"/>
              </a:rPr>
              <a:t>指导教师</a:t>
            </a:r>
            <a:endParaRPr lang="en-US" noProof="1"/>
          </a:p>
          <a:p>
            <a:pPr algn="l">
              <a:lnSpc>
                <a:spcPct val="155000"/>
              </a:lnSpc>
            </a:pPr>
            <a:r>
              <a:rPr lang="en-US" noProof="1">
                <a:solidFill>
                  <a:srgbClr val="2B2320"/>
                </a:solidFill>
                <a:latin typeface="MiSans"/>
                <a:ea typeface="MiSans"/>
              </a:rPr>
              <a:t>每队可配备 </a:t>
            </a:r>
            <a:r>
              <a:rPr lang="en-US" b="1" noProof="1">
                <a:solidFill>
                  <a:srgbClr val="2B2320"/>
                </a:solidFill>
                <a:latin typeface="MiSans"/>
                <a:ea typeface="MiSans"/>
              </a:rPr>
              <a:t>1 至 2 名</a:t>
            </a:r>
            <a:r>
              <a:rPr lang="en-US" noProof="1">
                <a:solidFill>
                  <a:srgbClr val="2B2320"/>
                </a:solidFill>
                <a:latin typeface="MiSans"/>
                <a:ea typeface="MiSans"/>
              </a:rPr>
              <a:t>校内指导教师（可选项）。</a:t>
            </a:r>
            <a:endParaRPr lang="en-US" noProof="1">
              <a:solidFill>
                <a:srgbClr val="2B2320"/>
              </a:solidFill>
              <a:latin typeface="MiSans"/>
              <a:ea typeface="MiSans"/>
            </a:endParaRPr>
          </a:p>
        </p:txBody>
      </p:sp>
      <p:sp>
        <p:nvSpPr>
          <p:cNvPr id="6" name="col-divider"/>
          <p:cNvSpPr/>
          <p:nvPr/>
        </p:nvSpPr>
        <p:spPr>
          <a:xfrm>
            <a:off x="6350000" y="1549400"/>
            <a:ext cx="12700" cy="4064000"/>
          </a:xfrm>
          <a:prstGeom prst="rect">
            <a:avLst/>
          </a:prstGeom>
          <a:solidFill>
            <a:srgbClr val="E4DACA"/>
          </a:solidFill>
          <a:ln>
            <a:noFill/>
          </a:ln>
        </p:spPr>
      </p:sp>
      <p:sp>
        <p:nvSpPr>
          <p:cNvPr id="7" name="rules-right"/>
          <p:cNvSpPr txBox="1"/>
          <p:nvPr/>
        </p:nvSpPr>
        <p:spPr>
          <a:xfrm>
            <a:off x="6654800" y="1549400"/>
            <a:ext cx="4775200" cy="406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b="1" noProof="1">
                <a:solidFill>
                  <a:srgbClr val="A82E22"/>
                </a:solidFill>
                <a:latin typeface="MiSans"/>
                <a:ea typeface="MiSans"/>
              </a:rPr>
              <a:t>人工智能工具</a:t>
            </a:r>
            <a:endParaRPr lang="en-US" noProof="1"/>
          </a:p>
          <a:p>
            <a:pPr algn="l">
              <a:lnSpc>
                <a:spcPct val="155000"/>
              </a:lnSpc>
            </a:pPr>
            <a:r>
              <a:rPr lang="en-US" noProof="1">
                <a:solidFill>
                  <a:srgbClr val="2B2320"/>
                </a:solidFill>
                <a:latin typeface="MiSans"/>
                <a:ea typeface="MiSans"/>
              </a:rPr>
              <a:t>不限定具体工具，可按创作需要自行选择，但须遵守通知关于人工智能使用、数据安全、知识产权和参赛纪律的规定。</a:t>
            </a:r>
            <a:endParaRPr lang="en-US" noProof="1"/>
          </a:p>
          <a:p>
            <a:pPr algn="l">
              <a:lnSpc>
                <a:spcPct val="155000"/>
              </a:lnSpc>
              <a:spcBef>
                <a:spcPts val="1400"/>
              </a:spcBef>
            </a:pPr>
            <a:r>
              <a:rPr lang="en-US" b="1" noProof="1">
                <a:solidFill>
                  <a:srgbClr val="A82E22"/>
                </a:solidFill>
                <a:latin typeface="MiSans"/>
                <a:ea typeface="MiSans"/>
              </a:rPr>
              <a:t>参赛平台</a:t>
            </a:r>
            <a:endParaRPr lang="en-US" noProof="1"/>
          </a:p>
          <a:p>
            <a:pPr algn="l">
              <a:lnSpc>
                <a:spcPct val="155000"/>
              </a:lnSpc>
            </a:pPr>
            <a:r>
              <a:rPr lang="en-US" noProof="1">
                <a:solidFill>
                  <a:srgbClr val="2B2320"/>
                </a:solidFill>
                <a:latin typeface="MiSans"/>
                <a:ea typeface="MiSans"/>
              </a:rPr>
              <a:t>平台报名和作品提交的活动平台由人大附中统一提供；各校组织管理及咨询方式由各校另行发布。</a:t>
            </a:r>
            <a:endParaRPr lang="en-US" noProof="1">
              <a:solidFill>
                <a:srgbClr val="2B2320"/>
              </a:solidFill>
              <a:latin typeface="MiSans"/>
              <a:ea typeface="MiSans"/>
            </a:endParaRPr>
          </a:p>
        </p:txBody>
      </p:sp>
      <p:sp>
        <p:nvSpPr>
          <p:cNvPr id="8" name="declare-rule"/>
          <p:cNvSpPr/>
          <p:nvPr/>
        </p:nvSpPr>
        <p:spPr>
          <a:xfrm>
            <a:off x="762000" y="5740400"/>
            <a:ext cx="10668000" cy="12700"/>
          </a:xfrm>
          <a:prstGeom prst="rect">
            <a:avLst/>
          </a:prstGeom>
          <a:solidFill>
            <a:srgbClr val="E4DACA"/>
          </a:solidFill>
          <a:ln>
            <a:noFill/>
          </a:ln>
        </p:spPr>
      </p:sp>
      <p:sp>
        <p:nvSpPr>
          <p:cNvPr id="9" name="declare-icon"/>
          <p:cNvSpPr/>
          <p:nvPr/>
        </p:nvSpPr>
        <p:spPr>
          <a:xfrm>
            <a:off x="762000" y="5892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256" y="320"/>
                </a:moveTo>
                <a:cubicBezTo>
                  <a:pt x="238" y="320"/>
                  <a:pt x="224" y="334"/>
                  <a:pt x="224" y="352"/>
                </a:cubicBezTo>
                <a:cubicBezTo>
                  <a:pt x="224" y="370"/>
                  <a:pt x="238" y="384"/>
                  <a:pt x="256" y="384"/>
                </a:cubicBezTo>
                <a:cubicBezTo>
                  <a:pt x="274" y="384"/>
                  <a:pt x="288" y="370"/>
                  <a:pt x="288" y="352"/>
                </a:cubicBezTo>
                <a:cubicBezTo>
                  <a:pt x="288" y="334"/>
                  <a:pt x="274" y="320"/>
                  <a:pt x="256" y="320"/>
                </a:cubicBezTo>
                <a:close/>
                <a:moveTo>
                  <a:pt x="256" y="128"/>
                </a:moveTo>
                <a:cubicBezTo>
                  <a:pt x="238" y="128"/>
                  <a:pt x="223" y="144"/>
                  <a:pt x="225" y="162"/>
                </a:cubicBezTo>
                <a:lnTo>
                  <a:pt x="232" y="266"/>
                </a:lnTo>
                <a:cubicBezTo>
                  <a:pt x="233" y="278"/>
                  <a:pt x="243" y="288"/>
                  <a:pt x="256" y="288"/>
                </a:cubicBezTo>
                <a:cubicBezTo>
                  <a:pt x="269" y="288"/>
                  <a:pt x="279" y="278"/>
                  <a:pt x="280" y="266"/>
                </a:cubicBezTo>
                <a:lnTo>
                  <a:pt x="287" y="162"/>
                </a:lnTo>
                <a:cubicBezTo>
                  <a:pt x="289" y="144"/>
                  <a:pt x="274" y="128"/>
                  <a:pt x="256" y="128"/>
                </a:cubicBezTo>
                <a:close/>
              </a:path>
            </a:pathLst>
          </a:custGeom>
          <a:solidFill>
            <a:srgbClr val="A82E22"/>
          </a:solidFill>
          <a:ln>
            <a:noFill/>
          </a:ln>
        </p:spPr>
      </p:sp>
      <p:sp>
        <p:nvSpPr>
          <p:cNvPr id="10" name="declare"/>
          <p:cNvSpPr txBox="1"/>
          <p:nvPr/>
        </p:nvSpPr>
        <p:spPr>
          <a:xfrm>
            <a:off x="1117600" y="5867400"/>
            <a:ext cx="10312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noProof="1">
                <a:solidFill>
                  <a:srgbClr val="2B2320"/>
                </a:solidFill>
                <a:latin typeface="MiSans"/>
                <a:ea typeface="MiSans"/>
              </a:rPr>
              <a:t>重要声明：本活动与升学无关。</a:t>
            </a: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请各校在宣传和组织中向学生、家长说明。</a:t>
            </a:r>
            <a:endParaRPr lang="en-US" sz="1400" noProof="1"/>
          </a:p>
        </p:txBody>
      </p:sp>
      <p:sp>
        <p:nvSpPr>
          <p:cNvPr id="11" name="footer-rule"/>
          <p:cNvSpPr/>
          <p:nvPr/>
        </p:nvSpPr>
        <p:spPr>
          <a:xfrm>
            <a:off x="762000" y="6502400"/>
            <a:ext cx="10668000" cy="12700"/>
          </a:xfrm>
          <a:prstGeom prst="rect">
            <a:avLst/>
          </a:prstGeom>
          <a:solidFill>
            <a:srgbClr val="E4DACA"/>
          </a:solidFill>
          <a:ln>
            <a:noFill/>
          </a:ln>
        </p:spPr>
      </p:sp>
      <p:sp>
        <p:nvSpPr>
          <p:cNvPr id="12" name="footer-left"/>
          <p:cNvSpPr txBox="1"/>
          <p:nvPr/>
        </p:nvSpPr>
        <p:spPr>
          <a:xfrm>
            <a:off x="762000" y="6604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8A7F72"/>
                </a:solidFill>
                <a:latin typeface="MiSans"/>
                <a:ea typeface="MiSans"/>
              </a:rPr>
              <a:t>2026第三届校园AI创作者大赛 · 赛事说明</a:t>
            </a:r>
            <a:endParaRPr lang="en-US" sz="1000" noProof="1"/>
          </a:p>
        </p:txBody>
      </p:sp>
      <p:sp>
        <p:nvSpPr>
          <p:cNvPr id="13" name="footer-page"/>
          <p:cNvSpPr txBox="1"/>
          <p:nvPr/>
        </p:nvSpPr>
        <p:spPr>
          <a:xfrm>
            <a:off x="10414000" y="66040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8A7F72"/>
                </a:solidFill>
                <a:latin typeface="MiSans"/>
                <a:ea typeface="MiSans"/>
              </a:rPr>
              <a:t>08 / 28</a:t>
            </a:r>
            <a:endParaRPr lang="en-US" sz="10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064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A82E22"/>
                </a:solidFill>
                <a:latin typeface="MiSans"/>
                <a:ea typeface="MiSans"/>
              </a:rPr>
              <a:t>03 · 各赛道要求说明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6604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700" b="1" noProof="1">
                <a:solidFill>
                  <a:srgbClr val="2B2320"/>
                </a:solidFill>
                <a:latin typeface="思源宋体"/>
                <a:ea typeface="思源宋体"/>
              </a:rPr>
              <a:t>数智美术赛道：绘本、插画或微短片</a:t>
            </a:r>
            <a:endParaRPr lang="en-US" sz="2700" noProof="1"/>
          </a:p>
        </p:txBody>
      </p:sp>
      <p:sp>
        <p:nvSpPr>
          <p:cNvPr id="4" name="title-bar"/>
          <p:cNvSpPr/>
          <p:nvPr/>
        </p:nvSpPr>
        <p:spPr>
          <a:xfrm>
            <a:off x="762000" y="1244600"/>
            <a:ext cx="431800" cy="38100"/>
          </a:xfrm>
          <a:prstGeom prst="rect">
            <a:avLst/>
          </a:prstGeom>
          <a:solidFill>
            <a:srgbClr val="A82E22"/>
          </a:solidFill>
          <a:ln>
            <a:noFill/>
          </a:ln>
        </p:spPr>
      </p:sp>
      <p:sp>
        <p:nvSpPr>
          <p:cNvPr id="5" name="dir1-tag"/>
          <p:cNvSpPr txBox="1"/>
          <p:nvPr/>
        </p:nvSpPr>
        <p:spPr>
          <a:xfrm>
            <a:off x="762000" y="1473200"/>
            <a:ext cx="5207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noProof="1">
                <a:solidFill>
                  <a:srgbClr val="A82E22"/>
                </a:solidFill>
                <a:latin typeface="思源宋体"/>
                <a:ea typeface="思源宋体"/>
              </a:rPr>
              <a:t>微光绘史 ｜ 历史回望方向</a:t>
            </a:r>
            <a:endParaRPr lang="en-US" sz="2000" b="1" noProof="1">
              <a:solidFill>
                <a:srgbClr val="A82E22"/>
              </a:solidFill>
              <a:latin typeface="思源宋体"/>
              <a:ea typeface="思源宋体"/>
            </a:endParaRPr>
          </a:p>
        </p:txBody>
      </p:sp>
      <p:sp>
        <p:nvSpPr>
          <p:cNvPr id="6" name="dir1-rule"/>
          <p:cNvSpPr/>
          <p:nvPr/>
        </p:nvSpPr>
        <p:spPr>
          <a:xfrm>
            <a:off x="762000" y="1828800"/>
            <a:ext cx="5207000" cy="12700"/>
          </a:xfrm>
          <a:prstGeom prst="rect">
            <a:avLst/>
          </a:prstGeom>
          <a:solidFill>
            <a:srgbClr val="E4DACA"/>
          </a:solidFill>
          <a:ln>
            <a:noFill/>
          </a:ln>
        </p:spPr>
      </p:sp>
      <p:sp>
        <p:nvSpPr>
          <p:cNvPr id="7" name="dir1-body"/>
          <p:cNvSpPr txBox="1"/>
          <p:nvPr/>
        </p:nvSpPr>
        <p:spPr>
          <a:xfrm>
            <a:off x="762000" y="1981200"/>
            <a:ext cx="52070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选取</a:t>
            </a:r>
            <a:r>
              <a:rPr lang="en-US" sz="1400" b="1" noProof="1">
                <a:solidFill>
                  <a:srgbClr val="2B2320"/>
                </a:solidFill>
                <a:latin typeface="MiSans"/>
                <a:ea typeface="MiSans"/>
              </a:rPr>
              <a:t>一个具体的人、事或物</a:t>
            </a: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，表现风雪与战火中革命先辈的坚定信念、凡人微光与奉献牺牲。</a:t>
            </a:r>
            <a:endParaRPr lang="en-US" noProof="1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400" noProof="1">
                <a:solidFill>
                  <a:srgbClr val="8A7F72"/>
                </a:solidFill>
                <a:latin typeface="MiSans"/>
                <a:ea typeface="MiSans"/>
              </a:rPr>
              <a:t>选题宜小切口、具象化，避免宏大空泛的拼贴。</a:t>
            </a:r>
            <a:endParaRPr lang="en-US" sz="1400" noProof="1">
              <a:solidFill>
                <a:srgbClr val="8A7F72"/>
              </a:solidFill>
              <a:latin typeface="MiSans"/>
              <a:ea typeface="MiSans"/>
            </a:endParaRPr>
          </a:p>
        </p:txBody>
      </p:sp>
      <p:sp>
        <p:nvSpPr>
          <p:cNvPr id="8" name="col-divider"/>
          <p:cNvSpPr/>
          <p:nvPr/>
        </p:nvSpPr>
        <p:spPr>
          <a:xfrm>
            <a:off x="6223000" y="1473200"/>
            <a:ext cx="12700" cy="2184400"/>
          </a:xfrm>
          <a:prstGeom prst="rect">
            <a:avLst/>
          </a:prstGeom>
          <a:solidFill>
            <a:srgbClr val="E4DACA"/>
          </a:solidFill>
          <a:ln>
            <a:noFill/>
          </a:ln>
        </p:spPr>
      </p:sp>
      <p:sp>
        <p:nvSpPr>
          <p:cNvPr id="9" name="dir2-tag"/>
          <p:cNvSpPr txBox="1"/>
          <p:nvPr/>
        </p:nvSpPr>
        <p:spPr>
          <a:xfrm>
            <a:off x="6477000" y="14732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noProof="1">
                <a:solidFill>
                  <a:srgbClr val="A82E22"/>
                </a:solidFill>
                <a:latin typeface="思源宋体"/>
                <a:ea typeface="思源宋体"/>
              </a:rPr>
              <a:t>星辰绘境 ｜ 时代征程方向</a:t>
            </a:r>
            <a:endParaRPr lang="en-US" sz="2000" b="1" noProof="1">
              <a:solidFill>
                <a:srgbClr val="A82E22"/>
              </a:solidFill>
              <a:latin typeface="思源宋体"/>
              <a:ea typeface="思源宋体"/>
            </a:endParaRPr>
          </a:p>
        </p:txBody>
      </p:sp>
      <p:sp>
        <p:nvSpPr>
          <p:cNvPr id="10" name="dir2-rule"/>
          <p:cNvSpPr/>
          <p:nvPr/>
        </p:nvSpPr>
        <p:spPr>
          <a:xfrm>
            <a:off x="6477000" y="1828800"/>
            <a:ext cx="4953000" cy="12700"/>
          </a:xfrm>
          <a:prstGeom prst="rect">
            <a:avLst/>
          </a:prstGeom>
          <a:solidFill>
            <a:srgbClr val="E4DACA"/>
          </a:solidFill>
          <a:ln>
            <a:noFill/>
          </a:ln>
        </p:spPr>
      </p:sp>
      <p:sp>
        <p:nvSpPr>
          <p:cNvPr id="11" name="dir2-body"/>
          <p:cNvSpPr txBox="1"/>
          <p:nvPr/>
        </p:nvSpPr>
        <p:spPr>
          <a:xfrm>
            <a:off x="6477000" y="1981200"/>
            <a:ext cx="49530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以</a:t>
            </a:r>
            <a:r>
              <a:rPr lang="en-US" sz="1400" b="1" noProof="1">
                <a:solidFill>
                  <a:srgbClr val="2B2320"/>
                </a:solidFill>
                <a:latin typeface="MiSans"/>
                <a:ea typeface="MiSans"/>
              </a:rPr>
              <a:t>深空探测、深地工程、极地科考、太空天梯</a:t>
            </a: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等现代重大科技攻关为主题，将长征精神转化为未来工业与科幻视觉表达。</a:t>
            </a:r>
            <a:endParaRPr lang="en-US" sz="1400" noProof="1">
              <a:solidFill>
                <a:srgbClr val="2B2320"/>
              </a:solidFill>
              <a:latin typeface="MiSans"/>
              <a:ea typeface="MiSans"/>
            </a:endParaRPr>
          </a:p>
        </p:txBody>
      </p:sp>
      <p:sp>
        <p:nvSpPr>
          <p:cNvPr id="12" name="spec-head"/>
          <p:cNvSpPr txBox="1"/>
          <p:nvPr/>
        </p:nvSpPr>
        <p:spPr>
          <a:xfrm>
            <a:off x="762000" y="38354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noProof="1">
                <a:solidFill>
                  <a:srgbClr val="2B2320"/>
                </a:solidFill>
                <a:latin typeface="思源宋体"/>
                <a:ea typeface="思源宋体"/>
              </a:rPr>
              <a:t>作品规格（两个方向通用）</a:t>
            </a:r>
            <a:endParaRPr lang="en-US" sz="2000" b="1" noProof="1">
              <a:solidFill>
                <a:srgbClr val="2B2320"/>
              </a:solidFill>
              <a:latin typeface="思源宋体"/>
              <a:ea typeface="思源宋体"/>
            </a:endParaRPr>
          </a:p>
        </p:txBody>
      </p:sp>
      <p:sp>
        <p:nvSpPr>
          <p:cNvPr id="13" name="spec-rule"/>
          <p:cNvSpPr/>
          <p:nvPr/>
        </p:nvSpPr>
        <p:spPr>
          <a:xfrm>
            <a:off x="762000" y="4191000"/>
            <a:ext cx="10668000" cy="12700"/>
          </a:xfrm>
          <a:prstGeom prst="rect">
            <a:avLst/>
          </a:prstGeom>
          <a:solidFill>
            <a:srgbClr val="E4DACA"/>
          </a:solidFill>
          <a:ln>
            <a:noFill/>
          </a:ln>
        </p:spPr>
      </p:sp>
      <p:sp>
        <p:nvSpPr>
          <p:cNvPr id="14" name="spec-body"/>
          <p:cNvSpPr txBox="1"/>
          <p:nvPr/>
        </p:nvSpPr>
        <p:spPr>
          <a:xfrm>
            <a:off x="762000" y="4343400"/>
            <a:ext cx="10668000" cy="20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noProof="1">
                <a:solidFill>
                  <a:srgbClr val="A82E22"/>
                </a:solidFill>
                <a:latin typeface="MiSans"/>
                <a:ea typeface="MiSans"/>
              </a:rPr>
              <a:t>主要成果</a:t>
            </a: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　8 至 12 幅具有叙事连贯性的数字绘本或概念插画，</a:t>
            </a:r>
            <a:r>
              <a:rPr lang="en-US" sz="1400" b="1" noProof="1">
                <a:solidFill>
                  <a:srgbClr val="2B2320"/>
                </a:solidFill>
                <a:latin typeface="MiSans"/>
                <a:ea typeface="MiSans"/>
              </a:rPr>
              <a:t>或</a:t>
            </a: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 1 至 3 分钟微短片。</a:t>
            </a:r>
            <a:endParaRPr lang="en-US" sz="1400" noProof="1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400" b="1" noProof="1">
                <a:solidFill>
                  <a:srgbClr val="A82E22"/>
                </a:solidFill>
                <a:latin typeface="MiSans"/>
                <a:ea typeface="MiSans"/>
              </a:rPr>
              <a:t>静态作品</a:t>
            </a: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　提交 PDF；原图长边不少于 2000 像素；多幅作品按叙事顺序合并为一个 PDF。</a:t>
            </a:r>
            <a:endParaRPr lang="en-US" sz="1400" noProof="1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400" b="1" noProof="1">
                <a:solidFill>
                  <a:srgbClr val="A82E22"/>
                </a:solidFill>
                <a:latin typeface="MiSans"/>
                <a:ea typeface="MiSans"/>
              </a:rPr>
              <a:t>动态作品</a:t>
            </a: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　MP4 格式，时长 1–3 分钟，画面比例 16:9，分辨率 1920×1080，H.264 编码，文件不超过 300MB，需配中文字幕。</a:t>
            </a:r>
            <a:endParaRPr lang="en-US" sz="1400" noProof="1">
              <a:solidFill>
                <a:srgbClr val="2B2320"/>
              </a:solidFill>
              <a:latin typeface="MiSans"/>
              <a:ea typeface="MiSans"/>
            </a:endParaRPr>
          </a:p>
        </p:txBody>
      </p:sp>
      <p:sp>
        <p:nvSpPr>
          <p:cNvPr id="15" name="footer-rule"/>
          <p:cNvSpPr/>
          <p:nvPr/>
        </p:nvSpPr>
        <p:spPr>
          <a:xfrm>
            <a:off x="762000" y="6502400"/>
            <a:ext cx="10668000" cy="12700"/>
          </a:xfrm>
          <a:prstGeom prst="rect">
            <a:avLst/>
          </a:prstGeom>
          <a:solidFill>
            <a:srgbClr val="E4DACA"/>
          </a:solidFill>
          <a:ln>
            <a:noFill/>
          </a:ln>
        </p:spPr>
      </p:sp>
      <p:sp>
        <p:nvSpPr>
          <p:cNvPr id="16" name="footer-left"/>
          <p:cNvSpPr txBox="1"/>
          <p:nvPr/>
        </p:nvSpPr>
        <p:spPr>
          <a:xfrm>
            <a:off x="762000" y="6604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8A7F72"/>
                </a:solidFill>
                <a:latin typeface="MiSans"/>
                <a:ea typeface="MiSans"/>
              </a:rPr>
              <a:t>2026第三届校园AI创作者大赛 · 赛事说明</a:t>
            </a:r>
            <a:endParaRPr lang="en-US" sz="1000" noProof="1"/>
          </a:p>
        </p:txBody>
      </p:sp>
      <p:sp>
        <p:nvSpPr>
          <p:cNvPr id="17" name="footer-page"/>
          <p:cNvSpPr txBox="1"/>
          <p:nvPr/>
        </p:nvSpPr>
        <p:spPr>
          <a:xfrm>
            <a:off x="10414000" y="66040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8A7F72"/>
                </a:solidFill>
                <a:latin typeface="MiSans"/>
                <a:ea typeface="MiSans"/>
              </a:rPr>
              <a:t>10 / 28</a:t>
            </a:r>
            <a:endParaRPr lang="en-US" sz="10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064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A82E22"/>
                </a:solidFill>
                <a:latin typeface="MiSans"/>
                <a:ea typeface="MiSans"/>
              </a:rPr>
              <a:t>03 · 各赛道要求说明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6604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700" b="1" noProof="1">
                <a:solidFill>
                  <a:srgbClr val="2B2320"/>
                </a:solidFill>
                <a:latin typeface="思源宋体"/>
                <a:ea typeface="思源宋体"/>
              </a:rPr>
              <a:t>数智音乐赛道：纯音乐或原创歌曲</a:t>
            </a:r>
            <a:endParaRPr lang="en-US" sz="2700" noProof="1"/>
          </a:p>
        </p:txBody>
      </p:sp>
      <p:sp>
        <p:nvSpPr>
          <p:cNvPr id="4" name="title-bar"/>
          <p:cNvSpPr/>
          <p:nvPr/>
        </p:nvSpPr>
        <p:spPr>
          <a:xfrm>
            <a:off x="762000" y="1244600"/>
            <a:ext cx="431800" cy="38100"/>
          </a:xfrm>
          <a:prstGeom prst="rect">
            <a:avLst/>
          </a:prstGeom>
          <a:solidFill>
            <a:srgbClr val="A82E22"/>
          </a:solidFill>
          <a:ln>
            <a:noFill/>
          </a:ln>
        </p:spPr>
      </p:sp>
      <p:sp>
        <p:nvSpPr>
          <p:cNvPr id="5" name="dir1-tag"/>
          <p:cNvSpPr txBox="1"/>
          <p:nvPr/>
        </p:nvSpPr>
        <p:spPr>
          <a:xfrm>
            <a:off x="762000" y="1447800"/>
            <a:ext cx="5207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noProof="1">
                <a:solidFill>
                  <a:srgbClr val="A82E22"/>
                </a:solidFill>
                <a:latin typeface="思源宋体"/>
                <a:ea typeface="思源宋体"/>
              </a:rPr>
              <a:t>长征回响 ｜ 历史回望方向</a:t>
            </a:r>
            <a:endParaRPr lang="en-US" sz="2000" b="1" noProof="1">
              <a:solidFill>
                <a:srgbClr val="A82E22"/>
              </a:solidFill>
              <a:latin typeface="思源宋体"/>
              <a:ea typeface="思源宋体"/>
            </a:endParaRPr>
          </a:p>
        </p:txBody>
      </p:sp>
      <p:sp>
        <p:nvSpPr>
          <p:cNvPr id="6" name="dir1-rule"/>
          <p:cNvSpPr/>
          <p:nvPr/>
        </p:nvSpPr>
        <p:spPr>
          <a:xfrm>
            <a:off x="762000" y="1803400"/>
            <a:ext cx="5207000" cy="12700"/>
          </a:xfrm>
          <a:prstGeom prst="rect">
            <a:avLst/>
          </a:prstGeom>
          <a:solidFill>
            <a:srgbClr val="E4DACA"/>
          </a:solidFill>
          <a:ln>
            <a:noFill/>
          </a:ln>
        </p:spPr>
      </p:sp>
      <p:sp>
        <p:nvSpPr>
          <p:cNvPr id="7" name="dir1-body"/>
          <p:cNvSpPr txBox="1"/>
          <p:nvPr/>
        </p:nvSpPr>
        <p:spPr>
          <a:xfrm>
            <a:off x="762000" y="1955800"/>
            <a:ext cx="5207000" cy="200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依据</a:t>
            </a:r>
            <a:r>
              <a:rPr lang="en-US" sz="1400" b="1" noProof="1">
                <a:solidFill>
                  <a:srgbClr val="2B2320"/>
                </a:solidFill>
                <a:latin typeface="MiSans"/>
                <a:ea typeface="MiSans"/>
              </a:rPr>
              <a:t>长征诗词、亲历者记录或具体历史事件</a:t>
            </a: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创作纯音乐或原创歌曲。</a:t>
            </a:r>
            <a:endParaRPr lang="en-US" sz="1400" noProof="1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纯音乐：通过主题动机、和声、配器和音色的变化，呈现</a:t>
            </a:r>
            <a:r>
              <a:rPr lang="en-US" sz="1400" b="1" noProof="1">
                <a:solidFill>
                  <a:srgbClr val="2B2320"/>
                </a:solidFill>
                <a:latin typeface="MiSans"/>
                <a:ea typeface="MiSans"/>
              </a:rPr>
              <a:t>从险阻突围到曙光初现</a:t>
            </a: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的历程。</a:t>
            </a:r>
            <a:endParaRPr lang="en-US" sz="1400" noProof="1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歌曲：以可靠史实或相关文学为基础，包含完整的主歌、副歌及清晰的情感推进。</a:t>
            </a:r>
            <a:endParaRPr lang="en-US" sz="1400" noProof="1">
              <a:solidFill>
                <a:srgbClr val="2B2320"/>
              </a:solidFill>
              <a:latin typeface="MiSans"/>
              <a:ea typeface="MiSans"/>
            </a:endParaRPr>
          </a:p>
        </p:txBody>
      </p:sp>
      <p:sp>
        <p:nvSpPr>
          <p:cNvPr id="8" name="col-divider"/>
          <p:cNvSpPr/>
          <p:nvPr/>
        </p:nvSpPr>
        <p:spPr>
          <a:xfrm>
            <a:off x="6223000" y="1447800"/>
            <a:ext cx="12700" cy="2514600"/>
          </a:xfrm>
          <a:prstGeom prst="rect">
            <a:avLst/>
          </a:prstGeom>
          <a:solidFill>
            <a:srgbClr val="E4DACA"/>
          </a:solidFill>
          <a:ln>
            <a:noFill/>
          </a:ln>
        </p:spPr>
      </p:sp>
      <p:sp>
        <p:nvSpPr>
          <p:cNvPr id="9" name="dir2-tag"/>
          <p:cNvSpPr txBox="1"/>
          <p:nvPr/>
        </p:nvSpPr>
        <p:spPr>
          <a:xfrm>
            <a:off x="6477000" y="14478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noProof="1">
                <a:solidFill>
                  <a:srgbClr val="A82E22"/>
                </a:solidFill>
                <a:latin typeface="思源宋体"/>
                <a:ea typeface="思源宋体"/>
              </a:rPr>
              <a:t>时代新声 ｜ 时代征程方向</a:t>
            </a:r>
            <a:endParaRPr lang="en-US" sz="2000" b="1" noProof="1">
              <a:solidFill>
                <a:srgbClr val="A82E22"/>
              </a:solidFill>
              <a:latin typeface="思源宋体"/>
              <a:ea typeface="思源宋体"/>
            </a:endParaRPr>
          </a:p>
        </p:txBody>
      </p:sp>
      <p:sp>
        <p:nvSpPr>
          <p:cNvPr id="10" name="dir2-rule"/>
          <p:cNvSpPr/>
          <p:nvPr/>
        </p:nvSpPr>
        <p:spPr>
          <a:xfrm>
            <a:off x="6477000" y="1803400"/>
            <a:ext cx="4953000" cy="12700"/>
          </a:xfrm>
          <a:prstGeom prst="rect">
            <a:avLst/>
          </a:prstGeom>
          <a:solidFill>
            <a:srgbClr val="E4DACA"/>
          </a:solidFill>
          <a:ln>
            <a:noFill/>
          </a:ln>
        </p:spPr>
      </p:sp>
      <p:sp>
        <p:nvSpPr>
          <p:cNvPr id="11" name="dir2-body"/>
          <p:cNvSpPr txBox="1"/>
          <p:nvPr/>
        </p:nvSpPr>
        <p:spPr>
          <a:xfrm>
            <a:off x="6477000" y="1955800"/>
            <a:ext cx="4953000" cy="200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围绕</a:t>
            </a:r>
            <a:r>
              <a:rPr lang="en-US" sz="1400" b="1" noProof="1">
                <a:solidFill>
                  <a:srgbClr val="2B2320"/>
                </a:solidFill>
                <a:latin typeface="MiSans"/>
                <a:ea typeface="MiSans"/>
              </a:rPr>
              <a:t>当代青年科研攻关、乡村振兴、强军报国</a:t>
            </a: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等奋斗主题创作纯音乐或原创歌曲。</a:t>
            </a:r>
            <a:endParaRPr lang="en-US" sz="1400" noProof="1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纯音乐：通过主题发展、节奏、和声、配器和音色塑造，表现新时代奋斗征程。</a:t>
            </a:r>
            <a:endParaRPr lang="en-US" sz="1400" noProof="1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歌曲：主题明确，包含完整的主歌、副歌及清晰的情感推进。</a:t>
            </a:r>
            <a:endParaRPr lang="en-US" sz="1400" noProof="1">
              <a:solidFill>
                <a:srgbClr val="2B2320"/>
              </a:solidFill>
              <a:latin typeface="MiSans"/>
              <a:ea typeface="MiSans"/>
            </a:endParaRPr>
          </a:p>
        </p:txBody>
      </p:sp>
      <p:sp>
        <p:nvSpPr>
          <p:cNvPr id="12" name="spec-head"/>
          <p:cNvSpPr txBox="1"/>
          <p:nvPr/>
        </p:nvSpPr>
        <p:spPr>
          <a:xfrm>
            <a:off x="762000" y="40894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noProof="1">
                <a:solidFill>
                  <a:srgbClr val="2B2320"/>
                </a:solidFill>
                <a:latin typeface="思源宋体"/>
                <a:ea typeface="思源宋体"/>
              </a:rPr>
              <a:t>作品规格（两个方向通用）</a:t>
            </a:r>
            <a:endParaRPr lang="en-US" sz="2000" b="1" noProof="1">
              <a:solidFill>
                <a:srgbClr val="2B2320"/>
              </a:solidFill>
              <a:latin typeface="思源宋体"/>
              <a:ea typeface="思源宋体"/>
            </a:endParaRPr>
          </a:p>
        </p:txBody>
      </p:sp>
      <p:sp>
        <p:nvSpPr>
          <p:cNvPr id="13" name="spec-rule"/>
          <p:cNvSpPr/>
          <p:nvPr/>
        </p:nvSpPr>
        <p:spPr>
          <a:xfrm>
            <a:off x="762000" y="4445000"/>
            <a:ext cx="10668000" cy="12700"/>
          </a:xfrm>
          <a:prstGeom prst="rect">
            <a:avLst/>
          </a:prstGeom>
          <a:solidFill>
            <a:srgbClr val="E4DACA"/>
          </a:solidFill>
          <a:ln>
            <a:noFill/>
          </a:ln>
        </p:spPr>
      </p:sp>
      <p:sp>
        <p:nvSpPr>
          <p:cNvPr id="14" name="spec-body"/>
          <p:cNvSpPr txBox="1"/>
          <p:nvPr/>
        </p:nvSpPr>
        <p:spPr>
          <a:xfrm>
            <a:off x="762000" y="4597400"/>
            <a:ext cx="10668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noProof="1">
                <a:solidFill>
                  <a:srgbClr val="A82E22"/>
                </a:solidFill>
                <a:latin typeface="MiSans"/>
                <a:ea typeface="MiSans"/>
              </a:rPr>
              <a:t>主要成果</a:t>
            </a: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　2 至 3 分钟纯音乐，或 2 至 4 分钟原创歌曲。</a:t>
            </a:r>
            <a:endParaRPr lang="en-US" sz="1400" noProof="1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b="1" noProof="1">
                <a:solidFill>
                  <a:srgbClr val="A82E22"/>
                </a:solidFill>
                <a:latin typeface="MiSans"/>
                <a:ea typeface="MiSans"/>
              </a:rPr>
              <a:t>音频文件</a:t>
            </a: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　不低于 44.1kHz / 16bit 的 WAV 文件，也可提交 320kbps MP3 文件。</a:t>
            </a:r>
            <a:endParaRPr lang="en-US" sz="1400" noProof="1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b="1" noProof="1">
                <a:solidFill>
                  <a:srgbClr val="A82E22"/>
                </a:solidFill>
                <a:latin typeface="MiSans"/>
                <a:ea typeface="MiSans"/>
              </a:rPr>
              <a:t>同步提交</a:t>
            </a: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　曲式结构说明 + 1080×1080 像素方形封面图；歌曲需提交歌词或文学文本。</a:t>
            </a:r>
            <a:endParaRPr lang="en-US" sz="1400" noProof="1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b="1" noProof="1">
                <a:solidFill>
                  <a:srgbClr val="A82E22"/>
                </a:solidFill>
                <a:latin typeface="MiSans"/>
                <a:ea typeface="MiSans"/>
              </a:rPr>
              <a:t>红线</a:t>
            </a: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　使用人工智能歌声、音色迁移或样本素材，须说明工具和素材来源；</a:t>
            </a:r>
            <a:r>
              <a:rPr lang="en-US" sz="1400" b="1" noProof="1">
                <a:solidFill>
                  <a:srgbClr val="2B2320"/>
                </a:solidFill>
                <a:latin typeface="MiSans"/>
                <a:ea typeface="MiSans"/>
              </a:rPr>
              <a:t>不得未经书面授权克隆现实人物或师生的声音</a:t>
            </a: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。</a:t>
            </a:r>
            <a:endParaRPr lang="en-US" sz="1400" noProof="1">
              <a:solidFill>
                <a:srgbClr val="2B2320"/>
              </a:solidFill>
              <a:latin typeface="MiSans"/>
              <a:ea typeface="MiSans"/>
            </a:endParaRPr>
          </a:p>
        </p:txBody>
      </p:sp>
      <p:sp>
        <p:nvSpPr>
          <p:cNvPr id="15" name="footer-rule"/>
          <p:cNvSpPr/>
          <p:nvPr/>
        </p:nvSpPr>
        <p:spPr>
          <a:xfrm>
            <a:off x="762000" y="6502400"/>
            <a:ext cx="10668000" cy="12700"/>
          </a:xfrm>
          <a:prstGeom prst="rect">
            <a:avLst/>
          </a:prstGeom>
          <a:solidFill>
            <a:srgbClr val="E4DACA"/>
          </a:solidFill>
          <a:ln>
            <a:noFill/>
          </a:ln>
        </p:spPr>
      </p:sp>
      <p:sp>
        <p:nvSpPr>
          <p:cNvPr id="16" name="footer-left"/>
          <p:cNvSpPr txBox="1"/>
          <p:nvPr/>
        </p:nvSpPr>
        <p:spPr>
          <a:xfrm>
            <a:off x="762000" y="6604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8A7F72"/>
                </a:solidFill>
                <a:latin typeface="MiSans"/>
                <a:ea typeface="MiSans"/>
              </a:rPr>
              <a:t>2026第三届校园AI创作者大赛 · 赛事说明</a:t>
            </a:r>
            <a:endParaRPr lang="en-US" sz="1000" noProof="1"/>
          </a:p>
        </p:txBody>
      </p:sp>
      <p:sp>
        <p:nvSpPr>
          <p:cNvPr id="17" name="footer-page"/>
          <p:cNvSpPr txBox="1"/>
          <p:nvPr/>
        </p:nvSpPr>
        <p:spPr>
          <a:xfrm>
            <a:off x="10414000" y="66040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8A7F72"/>
                </a:solidFill>
                <a:latin typeface="MiSans"/>
                <a:ea typeface="MiSans"/>
              </a:rPr>
              <a:t>11 / 28</a:t>
            </a:r>
            <a:endParaRPr lang="en-US" sz="10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064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A82E22"/>
                </a:solidFill>
                <a:latin typeface="MiSans"/>
                <a:ea typeface="MiSans"/>
              </a:rPr>
              <a:t>03 · 各赛道要求说明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6604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700" b="1" noProof="1">
                <a:solidFill>
                  <a:srgbClr val="2B2320"/>
                </a:solidFill>
                <a:latin typeface="思源宋体"/>
                <a:ea typeface="思源宋体"/>
              </a:rPr>
              <a:t>数智交互·地理方向：险阻解码（历史回望）</a:t>
            </a:r>
            <a:endParaRPr lang="en-US" sz="2700" noProof="1"/>
          </a:p>
        </p:txBody>
      </p:sp>
      <p:sp>
        <p:nvSpPr>
          <p:cNvPr id="4" name="title-bar"/>
          <p:cNvSpPr/>
          <p:nvPr/>
        </p:nvSpPr>
        <p:spPr>
          <a:xfrm>
            <a:off x="762000" y="1244600"/>
            <a:ext cx="431800" cy="38100"/>
          </a:xfrm>
          <a:prstGeom prst="rect">
            <a:avLst/>
          </a:prstGeom>
          <a:solidFill>
            <a:srgbClr val="A82E22"/>
          </a:solidFill>
          <a:ln>
            <a:noFill/>
          </a:ln>
        </p:spPr>
      </p:sp>
      <p:sp>
        <p:nvSpPr>
          <p:cNvPr id="5" name="intro"/>
          <p:cNvSpPr txBox="1"/>
          <p:nvPr/>
        </p:nvSpPr>
        <p:spPr>
          <a:xfrm>
            <a:off x="762000" y="1447800"/>
            <a:ext cx="10668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以</a:t>
            </a:r>
            <a:r>
              <a:rPr lang="en-US" sz="1400" b="1" noProof="1">
                <a:solidFill>
                  <a:srgbClr val="2B2320"/>
                </a:solidFill>
                <a:latin typeface="MiSans"/>
                <a:ea typeface="MiSans"/>
              </a:rPr>
              <a:t>长征时空地图</a:t>
            </a: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为基础，选择具有代表性的自然险阻，通过地形、气候、水文和地貌风险等交互内容，</a:t>
            </a:r>
            <a:r>
              <a:rPr lang="en-US" sz="1400" b="1" noProof="1">
                <a:solidFill>
                  <a:srgbClr val="2B2320"/>
                </a:solidFill>
                <a:latin typeface="MiSans"/>
                <a:ea typeface="MiSans"/>
              </a:rPr>
              <a:t>解释自然环境对行军的影响</a:t>
            </a: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，并结合可靠史料呈现红军克服困难的过程。</a:t>
            </a:r>
            <a:endParaRPr lang="en-US" sz="1400" noProof="1">
              <a:solidFill>
                <a:srgbClr val="2B2320"/>
              </a:solidFill>
              <a:latin typeface="MiSans"/>
              <a:ea typeface="MiSans"/>
            </a:endParaRPr>
          </a:p>
        </p:txBody>
      </p:sp>
      <p:sp>
        <p:nvSpPr>
          <p:cNvPr id="6" name="sci-head"/>
          <p:cNvSpPr txBox="1"/>
          <p:nvPr/>
        </p:nvSpPr>
        <p:spPr>
          <a:xfrm>
            <a:off x="762000" y="24130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noProof="1">
                <a:solidFill>
                  <a:srgbClr val="2B2320"/>
                </a:solidFill>
                <a:latin typeface="思源宋体"/>
                <a:ea typeface="思源宋体"/>
              </a:rPr>
              <a:t>科学信息要求</a:t>
            </a:r>
            <a:endParaRPr lang="en-US" sz="2000" b="1" noProof="1">
              <a:solidFill>
                <a:srgbClr val="2B2320"/>
              </a:solidFill>
              <a:latin typeface="思源宋体"/>
              <a:ea typeface="思源宋体"/>
            </a:endParaRPr>
          </a:p>
        </p:txBody>
      </p:sp>
      <p:sp>
        <p:nvSpPr>
          <p:cNvPr id="7" name="sci-rule"/>
          <p:cNvSpPr/>
          <p:nvPr/>
        </p:nvSpPr>
        <p:spPr>
          <a:xfrm>
            <a:off x="762000" y="2768600"/>
            <a:ext cx="5334000" cy="12700"/>
          </a:xfrm>
          <a:prstGeom prst="rect">
            <a:avLst/>
          </a:prstGeom>
          <a:solidFill>
            <a:srgbClr val="E4DACA"/>
          </a:solidFill>
          <a:ln>
            <a:noFill/>
          </a:ln>
        </p:spPr>
      </p:sp>
      <p:sp>
        <p:nvSpPr>
          <p:cNvPr id="8" name="sci-body"/>
          <p:cNvSpPr txBox="1"/>
          <p:nvPr/>
        </p:nvSpPr>
        <p:spPr>
          <a:xfrm>
            <a:off x="762000" y="2921000"/>
            <a:ext cx="53340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选择具有代表性的自然险阻或历史地点进行展示，应</a:t>
            </a:r>
            <a:r>
              <a:rPr lang="en-US" sz="1400" b="1" noProof="1">
                <a:solidFill>
                  <a:srgbClr val="2B2320"/>
                </a:solidFill>
                <a:latin typeface="MiSans"/>
                <a:ea typeface="MiSans"/>
              </a:rPr>
              <a:t>至少呈现两类科学信息</a:t>
            </a: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，例如：</a:t>
            </a:r>
            <a:endParaRPr lang="en-US" sz="1400" noProof="1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400" noProof="1">
                <a:solidFill>
                  <a:srgbClr val="A82E22"/>
                </a:solidFill>
                <a:latin typeface="MiSans"/>
                <a:ea typeface="MiSans"/>
              </a:rPr>
              <a:t>地形剖面 · 海拔变化 · 气候特征 · 水文条件 · 地貌风险 · 路线距离</a:t>
            </a:r>
            <a:endParaRPr lang="en-US" sz="1400" noProof="1">
              <a:solidFill>
                <a:srgbClr val="A82E22"/>
              </a:solidFill>
              <a:latin typeface="MiSans"/>
              <a:ea typeface="MiSans"/>
            </a:endParaRPr>
          </a:p>
        </p:txBody>
      </p:sp>
      <p:sp>
        <p:nvSpPr>
          <p:cNvPr id="9" name="col-divider"/>
          <p:cNvSpPr/>
          <p:nvPr/>
        </p:nvSpPr>
        <p:spPr>
          <a:xfrm>
            <a:off x="6350000" y="2413000"/>
            <a:ext cx="12700" cy="2184400"/>
          </a:xfrm>
          <a:prstGeom prst="rect">
            <a:avLst/>
          </a:prstGeom>
          <a:solidFill>
            <a:srgbClr val="E4DACA"/>
          </a:solidFill>
          <a:ln>
            <a:noFill/>
          </a:ln>
        </p:spPr>
      </p:sp>
      <p:sp>
        <p:nvSpPr>
          <p:cNvPr id="10" name="teach-head"/>
          <p:cNvSpPr txBox="1"/>
          <p:nvPr/>
        </p:nvSpPr>
        <p:spPr>
          <a:xfrm>
            <a:off x="6654800" y="2413000"/>
            <a:ext cx="4775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noProof="1">
                <a:solidFill>
                  <a:srgbClr val="2B2320"/>
                </a:solidFill>
                <a:latin typeface="思源宋体"/>
                <a:ea typeface="思源宋体"/>
              </a:rPr>
              <a:t>地理老师把关重点</a:t>
            </a:r>
            <a:endParaRPr lang="en-US" sz="2000" b="1" noProof="1">
              <a:solidFill>
                <a:srgbClr val="2B2320"/>
              </a:solidFill>
              <a:latin typeface="思源宋体"/>
              <a:ea typeface="思源宋体"/>
            </a:endParaRPr>
          </a:p>
        </p:txBody>
      </p:sp>
      <p:sp>
        <p:nvSpPr>
          <p:cNvPr id="11" name="teach-rule"/>
          <p:cNvSpPr/>
          <p:nvPr/>
        </p:nvSpPr>
        <p:spPr>
          <a:xfrm>
            <a:off x="6654800" y="2768600"/>
            <a:ext cx="4775200" cy="12700"/>
          </a:xfrm>
          <a:prstGeom prst="rect">
            <a:avLst/>
          </a:prstGeom>
          <a:solidFill>
            <a:srgbClr val="E4DACA"/>
          </a:solidFill>
          <a:ln>
            <a:noFill/>
          </a:ln>
        </p:spPr>
      </p:sp>
      <p:sp>
        <p:nvSpPr>
          <p:cNvPr id="12" name="teach-body"/>
          <p:cNvSpPr txBox="1"/>
          <p:nvPr/>
        </p:nvSpPr>
        <p:spPr>
          <a:xfrm>
            <a:off x="6654800" y="2921000"/>
            <a:ext cx="4775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· 地图、路线和空间关系是否准确</a:t>
            </a:r>
            <a:endParaRPr lang="en-US" sz="1400" noProof="1"/>
          </a:p>
          <a:p>
            <a:pPr algn="l">
              <a:lnSpc>
                <a:spcPct val="160000"/>
              </a:lnSpc>
            </a:pP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· 地形、气候、水文等数据是否有可靠来源</a:t>
            </a:r>
            <a:endParaRPr lang="en-US" sz="1400" noProof="1"/>
          </a:p>
          <a:p>
            <a:pPr algn="l">
              <a:lnSpc>
                <a:spcPct val="160000"/>
              </a:lnSpc>
            </a:pP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· 交互内容是否真正"解释"了自然环境与行军的关系，而非简单图文展示</a:t>
            </a:r>
            <a:endParaRPr lang="en-US" sz="1400" noProof="1">
              <a:solidFill>
                <a:srgbClr val="2B2320"/>
              </a:solidFill>
              <a:latin typeface="MiSans"/>
              <a:ea typeface="MiSans"/>
            </a:endParaRPr>
          </a:p>
        </p:txBody>
      </p:sp>
      <p:sp>
        <p:nvSpPr>
          <p:cNvPr id="13" name="spec-head"/>
          <p:cNvSpPr txBox="1"/>
          <p:nvPr/>
        </p:nvSpPr>
        <p:spPr>
          <a:xfrm>
            <a:off x="762000" y="47752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noProof="1">
                <a:solidFill>
                  <a:srgbClr val="2B2320"/>
                </a:solidFill>
                <a:latin typeface="思源宋体"/>
                <a:ea typeface="思源宋体"/>
              </a:rPr>
              <a:t>作品规格（数智交互赛道通用）</a:t>
            </a:r>
            <a:endParaRPr lang="en-US" sz="2000" b="1" noProof="1">
              <a:solidFill>
                <a:srgbClr val="2B2320"/>
              </a:solidFill>
              <a:latin typeface="思源宋体"/>
              <a:ea typeface="思源宋体"/>
            </a:endParaRPr>
          </a:p>
        </p:txBody>
      </p:sp>
      <p:sp>
        <p:nvSpPr>
          <p:cNvPr id="14" name="spec-rule"/>
          <p:cNvSpPr/>
          <p:nvPr/>
        </p:nvSpPr>
        <p:spPr>
          <a:xfrm>
            <a:off x="762000" y="5130800"/>
            <a:ext cx="10668000" cy="12700"/>
          </a:xfrm>
          <a:prstGeom prst="rect">
            <a:avLst/>
          </a:prstGeom>
          <a:solidFill>
            <a:srgbClr val="E4DACA"/>
          </a:solidFill>
          <a:ln>
            <a:noFill/>
          </a:ln>
        </p:spPr>
      </p:sp>
      <p:sp>
        <p:nvSpPr>
          <p:cNvPr id="15" name="spec-body"/>
          <p:cNvSpPr txBox="1"/>
          <p:nvPr/>
        </p:nvSpPr>
        <p:spPr>
          <a:xfrm>
            <a:off x="762000" y="5257800"/>
            <a:ext cx="10668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400" b="1" noProof="1">
                <a:solidFill>
                  <a:srgbClr val="A82E22"/>
                </a:solidFill>
                <a:latin typeface="MiSans"/>
                <a:ea typeface="MiSans"/>
              </a:rPr>
              <a:t>主要成果</a:t>
            </a: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　可在浏览器中运行的</a:t>
            </a:r>
            <a:r>
              <a:rPr lang="en-US" sz="1400" b="1" noProof="1">
                <a:solidFill>
                  <a:srgbClr val="2B2320"/>
                </a:solidFill>
                <a:latin typeface="MiSans"/>
                <a:ea typeface="MiSans"/>
              </a:rPr>
              <a:t>响应式交互网页</a:t>
            </a: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：在线作品提供公网访问链接，未部署作品提供离线运行包；同时提交 README 运行说明、科学依据说明。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500"/>
              </a:spcBef>
            </a:pPr>
            <a:r>
              <a:rPr lang="en-US" sz="1400" b="1" noProof="1">
                <a:solidFill>
                  <a:srgbClr val="A82E22"/>
                </a:solidFill>
                <a:latin typeface="MiSans"/>
                <a:ea typeface="MiSans"/>
              </a:rPr>
              <a:t>技术要求</a:t>
            </a: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　不得要求用户注册、登录或提供个人信息；核心功能须稳定运行，不得依赖个人 API 密钥或需要使用者自行配置的私有接口。</a:t>
            </a:r>
            <a:endParaRPr lang="en-US" sz="1400" noProof="1">
              <a:solidFill>
                <a:srgbClr val="2B2320"/>
              </a:solidFill>
              <a:latin typeface="MiSans"/>
              <a:ea typeface="MiSans"/>
            </a:endParaRPr>
          </a:p>
        </p:txBody>
      </p:sp>
      <p:sp>
        <p:nvSpPr>
          <p:cNvPr id="16" name="footer-rule"/>
          <p:cNvSpPr/>
          <p:nvPr/>
        </p:nvSpPr>
        <p:spPr>
          <a:xfrm>
            <a:off x="762000" y="6502400"/>
            <a:ext cx="10668000" cy="12700"/>
          </a:xfrm>
          <a:prstGeom prst="rect">
            <a:avLst/>
          </a:prstGeom>
          <a:solidFill>
            <a:srgbClr val="E4DACA"/>
          </a:solidFill>
          <a:ln>
            <a:noFill/>
          </a:ln>
        </p:spPr>
      </p:sp>
      <p:sp>
        <p:nvSpPr>
          <p:cNvPr id="17" name="footer-left"/>
          <p:cNvSpPr txBox="1"/>
          <p:nvPr/>
        </p:nvSpPr>
        <p:spPr>
          <a:xfrm>
            <a:off x="762000" y="6604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8A7F72"/>
                </a:solidFill>
                <a:latin typeface="MiSans"/>
                <a:ea typeface="MiSans"/>
              </a:rPr>
              <a:t>2026第三届校园AI创作者大赛 · 赛事说明</a:t>
            </a:r>
            <a:endParaRPr lang="en-US" sz="1000" noProof="1"/>
          </a:p>
        </p:txBody>
      </p:sp>
      <p:sp>
        <p:nvSpPr>
          <p:cNvPr id="18" name="footer-page"/>
          <p:cNvSpPr txBox="1"/>
          <p:nvPr/>
        </p:nvSpPr>
        <p:spPr>
          <a:xfrm>
            <a:off x="10414000" y="66040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8A7F72"/>
                </a:solidFill>
                <a:latin typeface="MiSans"/>
                <a:ea typeface="MiSans"/>
              </a:rPr>
              <a:t>12 / 28</a:t>
            </a:r>
            <a:endParaRPr lang="en-US" sz="10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064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A82E22"/>
                </a:solidFill>
                <a:latin typeface="MiSans"/>
                <a:ea typeface="MiSans"/>
              </a:rPr>
              <a:t>03 · 各赛道要求说明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6604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700" b="1" noProof="1">
                <a:solidFill>
                  <a:srgbClr val="2B2320"/>
                </a:solidFill>
                <a:latin typeface="思源宋体"/>
                <a:ea typeface="思源宋体"/>
              </a:rPr>
              <a:t>数智交互·游戏方向：未来推演（时代征程）</a:t>
            </a:r>
            <a:endParaRPr lang="en-US" sz="2700" noProof="1"/>
          </a:p>
        </p:txBody>
      </p:sp>
      <p:sp>
        <p:nvSpPr>
          <p:cNvPr id="4" name="title-bar"/>
          <p:cNvSpPr/>
          <p:nvPr/>
        </p:nvSpPr>
        <p:spPr>
          <a:xfrm>
            <a:off x="762000" y="1244600"/>
            <a:ext cx="431800" cy="38100"/>
          </a:xfrm>
          <a:prstGeom prst="rect">
            <a:avLst/>
          </a:prstGeom>
          <a:solidFill>
            <a:srgbClr val="A82E22"/>
          </a:solidFill>
          <a:ln>
            <a:noFill/>
          </a:ln>
        </p:spPr>
      </p:sp>
      <p:sp>
        <p:nvSpPr>
          <p:cNvPr id="5" name="intro"/>
          <p:cNvSpPr txBox="1"/>
          <p:nvPr/>
        </p:nvSpPr>
        <p:spPr>
          <a:xfrm>
            <a:off x="762000" y="1422400"/>
            <a:ext cx="10668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以</a:t>
            </a:r>
            <a:r>
              <a:rPr lang="en-US" sz="1400" b="1" noProof="1">
                <a:solidFill>
                  <a:srgbClr val="2B2320"/>
                </a:solidFill>
                <a:latin typeface="MiSans"/>
                <a:ea typeface="MiSans"/>
              </a:rPr>
              <a:t>具有科学依据的未来任务</a:t>
            </a: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为背景，制作策略叙事游戏。玩家在</a:t>
            </a:r>
            <a:r>
              <a:rPr lang="en-US" sz="1400" b="1" noProof="1">
                <a:solidFill>
                  <a:srgbClr val="2B2320"/>
                </a:solidFill>
                <a:latin typeface="MiSans"/>
                <a:ea typeface="MiSans"/>
              </a:rPr>
              <a:t>时间、能源、物资、人员和安全</a:t>
            </a: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等限制下进行资源配置、方案选择和风险判断，</a:t>
            </a:r>
            <a:r>
              <a:rPr lang="en-US" sz="1400" b="1" noProof="1">
                <a:solidFill>
                  <a:srgbClr val="2B2320"/>
                </a:solidFill>
                <a:latin typeface="MiSans"/>
                <a:ea typeface="MiSans"/>
              </a:rPr>
              <a:t>不同选择须对任务进度、环境或团队状态产生实际影响</a:t>
            </a: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。</a:t>
            </a:r>
            <a:endParaRPr lang="en-US" sz="1400" noProof="1">
              <a:solidFill>
                <a:srgbClr val="2B2320"/>
              </a:solidFill>
              <a:latin typeface="MiSans"/>
              <a:ea typeface="MiSans"/>
            </a:endParaRPr>
          </a:p>
        </p:txBody>
      </p:sp>
      <p:sp>
        <p:nvSpPr>
          <p:cNvPr id="6" name="flow-head"/>
          <p:cNvSpPr txBox="1"/>
          <p:nvPr/>
        </p:nvSpPr>
        <p:spPr>
          <a:xfrm>
            <a:off x="762000" y="23622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noProof="1">
                <a:solidFill>
                  <a:srgbClr val="2B2320"/>
                </a:solidFill>
                <a:latin typeface="思源宋体"/>
                <a:ea typeface="思源宋体"/>
              </a:rPr>
              <a:t>游戏须具备完整流程</a:t>
            </a:r>
            <a:endParaRPr lang="en-US" sz="2000" b="1" noProof="1">
              <a:solidFill>
                <a:srgbClr val="2B2320"/>
              </a:solidFill>
              <a:latin typeface="思源宋体"/>
              <a:ea typeface="思源宋体"/>
            </a:endParaRPr>
          </a:p>
        </p:txBody>
      </p:sp>
      <p:sp>
        <p:nvSpPr>
          <p:cNvPr id="7" name="flow-c1"/>
          <p:cNvSpPr/>
          <p:nvPr/>
        </p:nvSpPr>
        <p:spPr>
          <a:xfrm>
            <a:off x="762000" y="2768600"/>
            <a:ext cx="1930400" cy="584200"/>
          </a:xfrm>
          <a:prstGeom prst="homePlate">
            <a:avLst>
              <a:gd name="adj" fmla="val 35000"/>
            </a:avLst>
          </a:prstGeom>
          <a:solidFill>
            <a:srgbClr val="A82E22"/>
          </a:solidFill>
          <a:ln>
            <a:noFill/>
          </a:ln>
        </p:spPr>
      </p:sp>
      <p:sp>
        <p:nvSpPr>
          <p:cNvPr id="8" name="flow-t1"/>
          <p:cNvSpPr txBox="1"/>
          <p:nvPr/>
        </p:nvSpPr>
        <p:spPr>
          <a:xfrm>
            <a:off x="762000" y="2768600"/>
            <a:ext cx="1778000" cy="584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FFFFFF"/>
                </a:solidFill>
                <a:latin typeface="MiSans"/>
                <a:ea typeface="MiSans"/>
              </a:rPr>
              <a:t>开始</a:t>
            </a:r>
            <a:endParaRPr lang="en-US" sz="1300" noProof="1"/>
          </a:p>
        </p:txBody>
      </p:sp>
      <p:sp>
        <p:nvSpPr>
          <p:cNvPr id="9" name="flow-c2"/>
          <p:cNvSpPr/>
          <p:nvPr/>
        </p:nvSpPr>
        <p:spPr>
          <a:xfrm>
            <a:off x="2819400" y="2768600"/>
            <a:ext cx="1930400" cy="584200"/>
          </a:xfrm>
          <a:prstGeom prst="chevron">
            <a:avLst>
              <a:gd name="adj" fmla="val 35000"/>
            </a:avLst>
          </a:prstGeom>
          <a:solidFill>
            <a:srgbClr val="7E1F16"/>
          </a:solidFill>
          <a:ln>
            <a:noFill/>
          </a:ln>
        </p:spPr>
      </p:sp>
      <p:sp>
        <p:nvSpPr>
          <p:cNvPr id="10" name="flow-t2"/>
          <p:cNvSpPr txBox="1"/>
          <p:nvPr/>
        </p:nvSpPr>
        <p:spPr>
          <a:xfrm>
            <a:off x="2971800" y="2768600"/>
            <a:ext cx="1727200" cy="584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FFFFFF"/>
                </a:solidFill>
                <a:latin typeface="MiSans"/>
                <a:ea typeface="MiSans"/>
              </a:rPr>
              <a:t>任务推进</a:t>
            </a:r>
            <a:endParaRPr lang="en-US" sz="1300" noProof="1"/>
          </a:p>
        </p:txBody>
      </p:sp>
      <p:sp>
        <p:nvSpPr>
          <p:cNvPr id="11" name="flow-c3"/>
          <p:cNvSpPr/>
          <p:nvPr/>
        </p:nvSpPr>
        <p:spPr>
          <a:xfrm>
            <a:off x="4876800" y="2768600"/>
            <a:ext cx="1930400" cy="584200"/>
          </a:xfrm>
          <a:prstGeom prst="chevron">
            <a:avLst>
              <a:gd name="adj" fmla="val 35000"/>
            </a:avLst>
          </a:prstGeom>
          <a:solidFill>
            <a:srgbClr val="A82E22"/>
          </a:solidFill>
          <a:ln>
            <a:noFill/>
          </a:ln>
        </p:spPr>
      </p:sp>
      <p:sp>
        <p:nvSpPr>
          <p:cNvPr id="12" name="flow-t3"/>
          <p:cNvSpPr txBox="1"/>
          <p:nvPr/>
        </p:nvSpPr>
        <p:spPr>
          <a:xfrm>
            <a:off x="5029200" y="2768600"/>
            <a:ext cx="1727200" cy="584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FFFFFF"/>
                </a:solidFill>
                <a:latin typeface="MiSans"/>
                <a:ea typeface="MiSans"/>
              </a:rPr>
              <a:t>决策反馈</a:t>
            </a:r>
            <a:endParaRPr lang="en-US" sz="1300" noProof="1"/>
          </a:p>
        </p:txBody>
      </p:sp>
      <p:sp>
        <p:nvSpPr>
          <p:cNvPr id="13" name="flow-c4"/>
          <p:cNvSpPr/>
          <p:nvPr/>
        </p:nvSpPr>
        <p:spPr>
          <a:xfrm>
            <a:off x="6934200" y="2768600"/>
            <a:ext cx="1930400" cy="584200"/>
          </a:xfrm>
          <a:prstGeom prst="chevron">
            <a:avLst>
              <a:gd name="adj" fmla="val 35000"/>
            </a:avLst>
          </a:prstGeom>
          <a:solidFill>
            <a:srgbClr val="7E1F16"/>
          </a:solidFill>
          <a:ln>
            <a:noFill/>
          </a:ln>
        </p:spPr>
      </p:sp>
      <p:sp>
        <p:nvSpPr>
          <p:cNvPr id="14" name="flow-t4"/>
          <p:cNvSpPr txBox="1"/>
          <p:nvPr/>
        </p:nvSpPr>
        <p:spPr>
          <a:xfrm>
            <a:off x="7086600" y="2768600"/>
            <a:ext cx="1727200" cy="584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FFFFFF"/>
                </a:solidFill>
                <a:latin typeface="MiSans"/>
                <a:ea typeface="MiSans"/>
              </a:rPr>
              <a:t>结果结算</a:t>
            </a:r>
            <a:endParaRPr lang="en-US" sz="1300" noProof="1"/>
          </a:p>
        </p:txBody>
      </p:sp>
      <p:sp>
        <p:nvSpPr>
          <p:cNvPr id="15" name="flow-c5"/>
          <p:cNvSpPr/>
          <p:nvPr/>
        </p:nvSpPr>
        <p:spPr>
          <a:xfrm>
            <a:off x="8991600" y="2768600"/>
            <a:ext cx="1930400" cy="584200"/>
          </a:xfrm>
          <a:prstGeom prst="chevron">
            <a:avLst>
              <a:gd name="adj" fmla="val 35000"/>
            </a:avLst>
          </a:prstGeom>
          <a:solidFill>
            <a:srgbClr val="A82E22"/>
          </a:solidFill>
          <a:ln>
            <a:noFill/>
          </a:ln>
        </p:spPr>
      </p:sp>
      <p:sp>
        <p:nvSpPr>
          <p:cNvPr id="16" name="flow-t5"/>
          <p:cNvSpPr txBox="1"/>
          <p:nvPr/>
        </p:nvSpPr>
        <p:spPr>
          <a:xfrm>
            <a:off x="9144000" y="2768600"/>
            <a:ext cx="1727200" cy="584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FFFFFF"/>
                </a:solidFill>
                <a:latin typeface="MiSans"/>
                <a:ea typeface="MiSans"/>
              </a:rPr>
              <a:t>重新挑战</a:t>
            </a:r>
            <a:endParaRPr lang="en-US" sz="1300" noProof="1"/>
          </a:p>
        </p:txBody>
      </p:sp>
      <p:sp>
        <p:nvSpPr>
          <p:cNvPr id="17" name="redline-icon"/>
          <p:cNvSpPr/>
          <p:nvPr/>
        </p:nvSpPr>
        <p:spPr>
          <a:xfrm>
            <a:off x="762000" y="36068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0" y="256"/>
                </a:move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ubicBezTo>
                  <a:pt x="115" y="512"/>
                  <a:pt x="0" y="397"/>
                  <a:pt x="0" y="256"/>
                </a:cubicBezTo>
                <a:close/>
                <a:moveTo>
                  <a:pt x="367" y="413"/>
                </a:moveTo>
                <a:lnTo>
                  <a:pt x="100" y="145"/>
                </a:lnTo>
                <a:cubicBezTo>
                  <a:pt x="77" y="176"/>
                  <a:pt x="64" y="215"/>
                  <a:pt x="64" y="256"/>
                </a:cubicBezTo>
                <a:cubicBezTo>
                  <a:pt x="64" y="362"/>
                  <a:pt x="150" y="448"/>
                  <a:pt x="256" y="448"/>
                </a:cubicBezTo>
                <a:cubicBezTo>
                  <a:pt x="298" y="448"/>
                  <a:pt x="336" y="435"/>
                  <a:pt x="367" y="413"/>
                </a:cubicBezTo>
                <a:close/>
                <a:moveTo>
                  <a:pt x="413" y="367"/>
                </a:moveTo>
                <a:cubicBezTo>
                  <a:pt x="435" y="336"/>
                  <a:pt x="448" y="297"/>
                  <a:pt x="448" y="256"/>
                </a:cubicBezTo>
                <a:cubicBezTo>
                  <a:pt x="448" y="150"/>
                  <a:pt x="362" y="64"/>
                  <a:pt x="256" y="64"/>
                </a:cubicBezTo>
                <a:cubicBezTo>
                  <a:pt x="215" y="64"/>
                  <a:pt x="176" y="77"/>
                  <a:pt x="145" y="100"/>
                </a:cubicBezTo>
                <a:lnTo>
                  <a:pt x="413" y="367"/>
                </a:lnTo>
                <a:close/>
              </a:path>
            </a:pathLst>
          </a:custGeom>
          <a:solidFill>
            <a:srgbClr val="A82E22"/>
          </a:solidFill>
          <a:ln>
            <a:noFill/>
          </a:ln>
        </p:spPr>
      </p:sp>
      <p:sp>
        <p:nvSpPr>
          <p:cNvPr id="18" name="redline"/>
          <p:cNvSpPr txBox="1"/>
          <p:nvPr/>
        </p:nvSpPr>
        <p:spPr>
          <a:xfrm>
            <a:off x="1117600" y="3556000"/>
            <a:ext cx="10312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noProof="1">
                <a:solidFill>
                  <a:srgbClr val="2B2320"/>
                </a:solidFill>
                <a:latin typeface="MiSans"/>
                <a:ea typeface="MiSans"/>
              </a:rPr>
              <a:t>红线：游戏选择必须产生具体影响</a:t>
            </a: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，不能仅以知识问答、连续点击或观看图文代替策略玩法。</a:t>
            </a:r>
            <a:endParaRPr lang="en-US" sz="1400" noProof="1">
              <a:solidFill>
                <a:srgbClr val="2B2320"/>
              </a:solidFill>
              <a:latin typeface="MiSans"/>
              <a:ea typeface="MiSans"/>
            </a:endParaRPr>
          </a:p>
        </p:txBody>
      </p:sp>
      <p:sp>
        <p:nvSpPr>
          <p:cNvPr id="19" name="spec-head"/>
          <p:cNvSpPr txBox="1"/>
          <p:nvPr/>
        </p:nvSpPr>
        <p:spPr>
          <a:xfrm>
            <a:off x="762000" y="41910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noProof="1">
                <a:solidFill>
                  <a:srgbClr val="2B2320"/>
                </a:solidFill>
                <a:latin typeface="思源宋体"/>
                <a:ea typeface="思源宋体"/>
              </a:rPr>
              <a:t>作品规格（数智交互赛道通用）</a:t>
            </a:r>
            <a:endParaRPr lang="en-US" sz="2000" b="1" noProof="1">
              <a:solidFill>
                <a:srgbClr val="2B2320"/>
              </a:solidFill>
              <a:latin typeface="思源宋体"/>
              <a:ea typeface="思源宋体"/>
            </a:endParaRPr>
          </a:p>
        </p:txBody>
      </p:sp>
      <p:sp>
        <p:nvSpPr>
          <p:cNvPr id="20" name="spec-rule"/>
          <p:cNvSpPr/>
          <p:nvPr/>
        </p:nvSpPr>
        <p:spPr>
          <a:xfrm>
            <a:off x="762000" y="4546600"/>
            <a:ext cx="10668000" cy="12700"/>
          </a:xfrm>
          <a:prstGeom prst="rect">
            <a:avLst/>
          </a:prstGeom>
          <a:solidFill>
            <a:srgbClr val="E4DACA"/>
          </a:solidFill>
          <a:ln>
            <a:noFill/>
          </a:ln>
        </p:spPr>
      </p:sp>
      <p:sp>
        <p:nvSpPr>
          <p:cNvPr id="21" name="spec-body"/>
          <p:cNvSpPr txBox="1"/>
          <p:nvPr/>
        </p:nvSpPr>
        <p:spPr>
          <a:xfrm>
            <a:off x="762000" y="4699000"/>
            <a:ext cx="10668000" cy="170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400" b="1" noProof="1">
                <a:solidFill>
                  <a:srgbClr val="A82E22"/>
                </a:solidFill>
                <a:latin typeface="MiSans"/>
                <a:ea typeface="MiSans"/>
              </a:rPr>
              <a:t>主要成果</a:t>
            </a: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　可在浏览器中运行的</a:t>
            </a:r>
            <a:r>
              <a:rPr lang="en-US" sz="1400" b="1" noProof="1">
                <a:solidFill>
                  <a:srgbClr val="2B2320"/>
                </a:solidFill>
                <a:latin typeface="MiSans"/>
                <a:ea typeface="MiSans"/>
              </a:rPr>
              <a:t>响应式交互网页</a:t>
            </a: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：在线作品提供公网访问链接，未部署作品提供离线运行包；同时提交 README 运行说明、游戏规则说明。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500"/>
              </a:spcBef>
            </a:pPr>
            <a:r>
              <a:rPr lang="en-US" sz="1400" b="1" noProof="1">
                <a:solidFill>
                  <a:srgbClr val="A82E22"/>
                </a:solidFill>
                <a:latin typeface="MiSans"/>
                <a:ea typeface="MiSans"/>
              </a:rPr>
              <a:t>技术要求</a:t>
            </a: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　不得要求用户注册、登录或提供个人信息；核心功能须稳定运行，不得依赖个人 API 密钥或需要使用者自行配置的私有接口。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500"/>
              </a:spcBef>
            </a:pPr>
            <a:r>
              <a:rPr lang="en-US" sz="1400" b="1" noProof="1">
                <a:solidFill>
                  <a:srgbClr val="A82E22"/>
                </a:solidFill>
                <a:latin typeface="MiSans"/>
                <a:ea typeface="MiSans"/>
              </a:rPr>
              <a:t>演示视频</a:t>
            </a: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　需连续演示作品启动、核心操作、主要交互、决策反馈和结束状态（详见第 04 部分提交材料要求）。</a:t>
            </a:r>
            <a:endParaRPr lang="en-US" sz="1400" noProof="1">
              <a:solidFill>
                <a:srgbClr val="2B2320"/>
              </a:solidFill>
              <a:latin typeface="MiSans"/>
              <a:ea typeface="MiSans"/>
            </a:endParaRPr>
          </a:p>
        </p:txBody>
      </p:sp>
      <p:sp>
        <p:nvSpPr>
          <p:cNvPr id="22" name="footer-rule"/>
          <p:cNvSpPr/>
          <p:nvPr/>
        </p:nvSpPr>
        <p:spPr>
          <a:xfrm>
            <a:off x="762000" y="6502400"/>
            <a:ext cx="10668000" cy="12700"/>
          </a:xfrm>
          <a:prstGeom prst="rect">
            <a:avLst/>
          </a:prstGeom>
          <a:solidFill>
            <a:srgbClr val="E4DACA"/>
          </a:solidFill>
          <a:ln>
            <a:noFill/>
          </a:ln>
        </p:spPr>
      </p:sp>
      <p:sp>
        <p:nvSpPr>
          <p:cNvPr id="23" name="footer-left"/>
          <p:cNvSpPr txBox="1"/>
          <p:nvPr/>
        </p:nvSpPr>
        <p:spPr>
          <a:xfrm>
            <a:off x="762000" y="6604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8A7F72"/>
                </a:solidFill>
                <a:latin typeface="MiSans"/>
                <a:ea typeface="MiSans"/>
              </a:rPr>
              <a:t>2026第三届校园AI创作者大赛 · 赛事说明</a:t>
            </a:r>
            <a:endParaRPr lang="en-US" sz="1000" noProof="1"/>
          </a:p>
        </p:txBody>
      </p:sp>
      <p:sp>
        <p:nvSpPr>
          <p:cNvPr id="24" name="footer-page"/>
          <p:cNvSpPr txBox="1"/>
          <p:nvPr/>
        </p:nvSpPr>
        <p:spPr>
          <a:xfrm>
            <a:off x="10414000" y="66040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8A7F72"/>
                </a:solidFill>
                <a:latin typeface="MiSans"/>
                <a:ea typeface="MiSans"/>
              </a:rPr>
              <a:t>13 / 28</a:t>
            </a:r>
            <a:endParaRPr lang="en-US" sz="10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064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A82E22"/>
                </a:solidFill>
                <a:latin typeface="MiSans"/>
                <a:ea typeface="MiSans"/>
              </a:rPr>
              <a:t>04 · 学科参考资料与自查清单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6604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700" b="1" noProof="1">
                <a:solidFill>
                  <a:srgbClr val="2B2320"/>
                </a:solidFill>
                <a:latin typeface="思源宋体"/>
                <a:ea typeface="思源宋体"/>
              </a:rPr>
              <a:t>两份自查清单：怎么用、依据什么</a:t>
            </a:r>
            <a:endParaRPr lang="en-US" sz="2700" noProof="1"/>
          </a:p>
        </p:txBody>
      </p:sp>
      <p:sp>
        <p:nvSpPr>
          <p:cNvPr id="4" name="title-bar"/>
          <p:cNvSpPr/>
          <p:nvPr/>
        </p:nvSpPr>
        <p:spPr>
          <a:xfrm>
            <a:off x="762000" y="1244600"/>
            <a:ext cx="431800" cy="38100"/>
          </a:xfrm>
          <a:prstGeom prst="rect">
            <a:avLst/>
          </a:prstGeom>
          <a:solidFill>
            <a:srgbClr val="A82E22"/>
          </a:solidFill>
          <a:ln>
            <a:noFill/>
          </a:ln>
        </p:spPr>
      </p:sp>
      <p:sp>
        <p:nvSpPr>
          <p:cNvPr id="5" name="intro"/>
          <p:cNvSpPr txBox="1"/>
          <p:nvPr/>
        </p:nvSpPr>
        <p:spPr>
          <a:xfrm>
            <a:off x="762000" y="1422400"/>
            <a:ext cx="10668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大赛提供</a:t>
            </a:r>
            <a:r>
              <a:rPr lang="en-US" sz="1400" b="1" noProof="1">
                <a:solidFill>
                  <a:srgbClr val="2B2320"/>
                </a:solidFill>
                <a:latin typeface="MiSans"/>
                <a:ea typeface="MiSans"/>
              </a:rPr>
              <a:t>《历史准确性自查清单》《地理与科学性自查清单》</a:t>
            </a: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两份清单，</a:t>
            </a:r>
            <a:r>
              <a:rPr lang="en-US" sz="1400" b="1" noProof="1">
                <a:solidFill>
                  <a:srgbClr val="A82E22"/>
                </a:solidFill>
                <a:latin typeface="MiSans"/>
                <a:ea typeface="MiSans"/>
              </a:rPr>
              <a:t>供创作与修改时参考，无需随作品提交</a:t>
            </a: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。清单内容对应联合复评第二轮"学科支撑评审"（历史与地理教师负责）。</a:t>
            </a:r>
            <a:endParaRPr lang="en-US" sz="1400" noProof="1">
              <a:solidFill>
                <a:srgbClr val="2B2320"/>
              </a:solidFill>
              <a:latin typeface="MiSans"/>
              <a:ea typeface="MiSans"/>
            </a:endParaRPr>
          </a:p>
        </p:txBody>
      </p:sp>
      <p:sp>
        <p:nvSpPr>
          <p:cNvPr id="6" name="rule1-num"/>
          <p:cNvSpPr txBox="1"/>
          <p:nvPr/>
        </p:nvSpPr>
        <p:spPr>
          <a:xfrm>
            <a:off x="762000" y="2184400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800" b="1" noProof="1">
                <a:solidFill>
                  <a:srgbClr val="C9A227"/>
                </a:solidFill>
                <a:latin typeface="思源宋体"/>
                <a:ea typeface="思源宋体"/>
              </a:rPr>
              <a:t>1</a:t>
            </a:r>
            <a:endParaRPr lang="en-US" sz="2800" noProof="1"/>
          </a:p>
        </p:txBody>
      </p:sp>
      <p:sp>
        <p:nvSpPr>
          <p:cNvPr id="7" name="rule1-text"/>
          <p:cNvSpPr txBox="1"/>
          <p:nvPr/>
        </p:nvSpPr>
        <p:spPr>
          <a:xfrm>
            <a:off x="1320800" y="2184400"/>
            <a:ext cx="101092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noProof="1">
                <a:solidFill>
                  <a:srgbClr val="2B2320"/>
                </a:solidFill>
                <a:latin typeface="MiSans"/>
                <a:ea typeface="MiSans"/>
              </a:rPr>
              <a:t>只查涉及的内容</a:t>
            </a: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　结合作品实际涉及的条目逐项自查，可勾选或简记核查结果；不涉及的项目无需填写。</a:t>
            </a:r>
            <a:endParaRPr lang="en-US" sz="1400" noProof="1">
              <a:solidFill>
                <a:srgbClr val="2B2320"/>
              </a:solidFill>
              <a:latin typeface="MiSans"/>
              <a:ea typeface="MiSans"/>
            </a:endParaRPr>
          </a:p>
        </p:txBody>
      </p:sp>
      <p:sp>
        <p:nvSpPr>
          <p:cNvPr id="8" name="rule2-num"/>
          <p:cNvSpPr txBox="1"/>
          <p:nvPr/>
        </p:nvSpPr>
        <p:spPr>
          <a:xfrm>
            <a:off x="762000" y="2946400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800" b="1" noProof="1">
                <a:solidFill>
                  <a:srgbClr val="C9A227"/>
                </a:solidFill>
                <a:latin typeface="思源宋体"/>
                <a:ea typeface="思源宋体"/>
              </a:rPr>
              <a:t>2</a:t>
            </a:r>
            <a:endParaRPr lang="en-US" sz="2800" noProof="1"/>
          </a:p>
        </p:txBody>
      </p:sp>
      <p:sp>
        <p:nvSpPr>
          <p:cNvPr id="9" name="rule2-text"/>
          <p:cNvSpPr txBox="1"/>
          <p:nvPr/>
        </p:nvSpPr>
        <p:spPr>
          <a:xfrm>
            <a:off x="1320800" y="2946400"/>
            <a:ext cx="101092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noProof="1">
                <a:solidFill>
                  <a:srgbClr val="2B2320"/>
                </a:solidFill>
                <a:latin typeface="MiSans"/>
                <a:ea typeface="MiSans"/>
              </a:rPr>
              <a:t>有疑问先核查</a:t>
            </a: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　先查资料或请教老师，发现错误及时修正；AI 回答只能提供线索，事实须回到可靠文献或数据核对。</a:t>
            </a:r>
            <a:endParaRPr lang="en-US" sz="1400" noProof="1">
              <a:solidFill>
                <a:srgbClr val="2B2320"/>
              </a:solidFill>
              <a:latin typeface="MiSans"/>
              <a:ea typeface="MiSans"/>
            </a:endParaRPr>
          </a:p>
        </p:txBody>
      </p:sp>
      <p:sp>
        <p:nvSpPr>
          <p:cNvPr id="10" name="rule3-num"/>
          <p:cNvSpPr txBox="1"/>
          <p:nvPr/>
        </p:nvSpPr>
        <p:spPr>
          <a:xfrm>
            <a:off x="762000" y="3708400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800" b="1" noProof="1">
                <a:solidFill>
                  <a:srgbClr val="C9A227"/>
                </a:solidFill>
                <a:latin typeface="思源宋体"/>
                <a:ea typeface="思源宋体"/>
              </a:rPr>
              <a:t>3</a:t>
            </a:r>
            <a:endParaRPr lang="en-US" sz="2800" noProof="1"/>
          </a:p>
        </p:txBody>
      </p:sp>
      <p:sp>
        <p:nvSpPr>
          <p:cNvPr id="11" name="rule3-text"/>
          <p:cNvSpPr txBox="1"/>
          <p:nvPr/>
        </p:nvSpPr>
        <p:spPr>
          <a:xfrm>
            <a:off x="1320800" y="3708400"/>
            <a:ext cx="101092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noProof="1">
                <a:solidFill>
                  <a:srgbClr val="2B2320"/>
                </a:solidFill>
                <a:latin typeface="MiSans"/>
                <a:ea typeface="MiSans"/>
              </a:rPr>
              <a:t>提交即声明</a:t>
            </a: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　提交作品及创作说明，即表明已参考清单完成相关核验：发现的问题已处理，</a:t>
            </a:r>
            <a:r>
              <a:rPr lang="en-US" sz="1400" b="1" noProof="1">
                <a:solidFill>
                  <a:srgbClr val="2B2320"/>
                </a:solidFill>
                <a:latin typeface="MiSans"/>
                <a:ea typeface="MiSans"/>
              </a:rPr>
              <a:t>尚不能确认的内容已标明资料局限或推演、演绎性质</a:t>
            </a: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。</a:t>
            </a:r>
            <a:endParaRPr lang="en-US" sz="1400" noProof="1">
              <a:solidFill>
                <a:srgbClr val="2B2320"/>
              </a:solidFill>
              <a:latin typeface="MiSans"/>
              <a:ea typeface="MiSans"/>
            </a:endParaRPr>
          </a:p>
        </p:txBody>
      </p:sp>
      <p:sp>
        <p:nvSpPr>
          <p:cNvPr id="12" name="src-head"/>
          <p:cNvSpPr txBox="1"/>
          <p:nvPr/>
        </p:nvSpPr>
        <p:spPr>
          <a:xfrm>
            <a:off x="762000" y="46482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b="1" noProof="1">
                <a:solidFill>
                  <a:srgbClr val="2B2320"/>
                </a:solidFill>
                <a:latin typeface="思源宋体"/>
                <a:ea typeface="思源宋体"/>
              </a:rPr>
              <a:t>事实核查：可用来源与地图规范</a:t>
            </a:r>
            <a:endParaRPr lang="en-US" b="1" noProof="1">
              <a:solidFill>
                <a:srgbClr val="2B2320"/>
              </a:solidFill>
              <a:latin typeface="思源宋体"/>
              <a:ea typeface="思源宋体"/>
            </a:endParaRPr>
          </a:p>
        </p:txBody>
      </p:sp>
      <p:sp>
        <p:nvSpPr>
          <p:cNvPr id="13" name="src-rule"/>
          <p:cNvSpPr/>
          <p:nvPr/>
        </p:nvSpPr>
        <p:spPr>
          <a:xfrm>
            <a:off x="762000" y="5003800"/>
            <a:ext cx="10668000" cy="12700"/>
          </a:xfrm>
          <a:prstGeom prst="rect">
            <a:avLst/>
          </a:prstGeom>
          <a:solidFill>
            <a:srgbClr val="E4DACA"/>
          </a:solidFill>
          <a:ln>
            <a:noFill/>
          </a:ln>
        </p:spPr>
      </p:sp>
      <p:sp>
        <p:nvSpPr>
          <p:cNvPr id="14" name="src-body"/>
          <p:cNvSpPr txBox="1"/>
          <p:nvPr/>
        </p:nvSpPr>
        <p:spPr>
          <a:xfrm>
            <a:off x="762000" y="5156200"/>
            <a:ext cx="10668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400" b="1" noProof="1">
                <a:solidFill>
                  <a:srgbClr val="A82E22"/>
                </a:solidFill>
                <a:latin typeface="MiSans"/>
                <a:ea typeface="MiSans"/>
              </a:rPr>
              <a:t>可用来源</a:t>
            </a: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　正式出版物、档案、博物馆资料、政府或科研机构公开数据。</a:t>
            </a:r>
            <a:r>
              <a:rPr lang="en-US" sz="1400" b="1" noProof="1">
                <a:solidFill>
                  <a:srgbClr val="2B2320"/>
                </a:solidFill>
                <a:latin typeface="MiSans"/>
                <a:ea typeface="MiSans"/>
              </a:rPr>
              <a:t>人工智能生成内容不能作为史料或数据来源</a:t>
            </a: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，事实性内容须通过上述渠道核验。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600"/>
              </a:spcBef>
            </a:pPr>
            <a:r>
              <a:rPr lang="en-US" sz="1400" b="1" noProof="1">
                <a:solidFill>
                  <a:srgbClr val="A82E22"/>
                </a:solidFill>
                <a:latin typeface="MiSans"/>
                <a:ea typeface="MiSans"/>
              </a:rPr>
              <a:t>标准地图</a:t>
            </a: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　使用中国地图请访问自然资源部标准地图服务系统 </a:t>
            </a:r>
            <a:r>
              <a:rPr lang="en-US" sz="1400" u="sng" noProof="1">
                <a:solidFill>
                  <a:srgbClr val="0563C1"/>
                </a:solidFill>
                <a:latin typeface="MiSans"/>
                <a:ea typeface="MiSans"/>
                <a:hlinkClick r:id="rId1"/>
              </a:rPr>
              <a:t>bzdt.ch.mnr.gov.cn</a:t>
            </a: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 下载国家统一发布的标准地图，</a:t>
            </a:r>
            <a:r>
              <a:rPr lang="en-US" sz="1400" b="1" noProof="1">
                <a:solidFill>
                  <a:srgbClr val="2B2320"/>
                </a:solidFill>
                <a:latin typeface="MiSans"/>
                <a:ea typeface="MiSans"/>
              </a:rPr>
              <a:t>不要随意使用其他无审图号的地图</a:t>
            </a:r>
            <a:r>
              <a:rPr lang="en-US" sz="1400" noProof="1">
                <a:solidFill>
                  <a:srgbClr val="2B2320"/>
                </a:solidFill>
                <a:latin typeface="MiSans"/>
                <a:ea typeface="MiSans"/>
              </a:rPr>
              <a:t>；使用历史地图同样需注意审图号。</a:t>
            </a:r>
            <a:endParaRPr lang="en-US" sz="1400" noProof="1">
              <a:solidFill>
                <a:srgbClr val="2B2320"/>
              </a:solidFill>
              <a:latin typeface="MiSans"/>
              <a:ea typeface="MiSans"/>
            </a:endParaRPr>
          </a:p>
        </p:txBody>
      </p:sp>
      <p:sp>
        <p:nvSpPr>
          <p:cNvPr id="15" name="footer-rule"/>
          <p:cNvSpPr/>
          <p:nvPr/>
        </p:nvSpPr>
        <p:spPr>
          <a:xfrm>
            <a:off x="762000" y="6502400"/>
            <a:ext cx="10668000" cy="12700"/>
          </a:xfrm>
          <a:prstGeom prst="rect">
            <a:avLst/>
          </a:prstGeom>
          <a:solidFill>
            <a:srgbClr val="E4DACA"/>
          </a:solidFill>
          <a:ln>
            <a:noFill/>
          </a:ln>
        </p:spPr>
      </p:sp>
      <p:sp>
        <p:nvSpPr>
          <p:cNvPr id="16" name="footer-left"/>
          <p:cNvSpPr txBox="1"/>
          <p:nvPr/>
        </p:nvSpPr>
        <p:spPr>
          <a:xfrm>
            <a:off x="762000" y="6604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8A7F72"/>
                </a:solidFill>
                <a:latin typeface="MiSans"/>
                <a:ea typeface="MiSans"/>
              </a:rPr>
              <a:t>2026第三届校园AI创作者大赛 · 赛事说明</a:t>
            </a:r>
            <a:endParaRPr lang="en-US" sz="1000" noProof="1"/>
          </a:p>
        </p:txBody>
      </p:sp>
      <p:sp>
        <p:nvSpPr>
          <p:cNvPr id="17" name="footer-page"/>
          <p:cNvSpPr txBox="1"/>
          <p:nvPr/>
        </p:nvSpPr>
        <p:spPr>
          <a:xfrm>
            <a:off x="10414000" y="66040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8A7F72"/>
                </a:solidFill>
                <a:latin typeface="MiSans"/>
                <a:ea typeface="MiSans"/>
              </a:rPr>
              <a:t>15 / 28</a:t>
            </a:r>
            <a:endParaRPr lang="en-US" sz="10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064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A82E22"/>
                </a:solidFill>
                <a:latin typeface="MiSans"/>
                <a:ea typeface="MiSans"/>
              </a:rPr>
              <a:t>04 · 学科参考资料与自查清单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6604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700" b="1" noProof="1">
                <a:solidFill>
                  <a:srgbClr val="2B2320"/>
                </a:solidFill>
                <a:latin typeface="思源宋体"/>
                <a:ea typeface="思源宋体"/>
              </a:rPr>
              <a:t>历史准确性自查清单：三关十项</a:t>
            </a:r>
            <a:endParaRPr lang="en-US" sz="2700" noProof="1"/>
          </a:p>
        </p:txBody>
      </p:sp>
      <p:sp>
        <p:nvSpPr>
          <p:cNvPr id="4" name="title-bar"/>
          <p:cNvSpPr/>
          <p:nvPr/>
        </p:nvSpPr>
        <p:spPr>
          <a:xfrm>
            <a:off x="762000" y="1244600"/>
            <a:ext cx="431800" cy="38100"/>
          </a:xfrm>
          <a:prstGeom prst="rect">
            <a:avLst/>
          </a:prstGeom>
          <a:solidFill>
            <a:srgbClr val="A82E22"/>
          </a:solidFill>
          <a:ln>
            <a:noFill/>
          </a:ln>
        </p:spPr>
      </p:sp>
      <p:sp>
        <p:nvSpPr>
          <p:cNvPr id="5" name="g1-head"/>
          <p:cNvSpPr txBox="1"/>
          <p:nvPr/>
        </p:nvSpPr>
        <p:spPr>
          <a:xfrm>
            <a:off x="762000" y="14478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noProof="1">
                <a:solidFill>
                  <a:srgbClr val="A82E22"/>
                </a:solidFill>
                <a:latin typeface="思源宋体"/>
                <a:ea typeface="思源宋体"/>
              </a:rPr>
              <a:t>第一关 · 史实基础核查</a:t>
            </a:r>
            <a:endParaRPr lang="en-US" sz="2000" b="1" noProof="1">
              <a:solidFill>
                <a:srgbClr val="A82E22"/>
              </a:solidFill>
              <a:latin typeface="思源宋体"/>
              <a:ea typeface="思源宋体"/>
            </a:endParaRPr>
          </a:p>
        </p:txBody>
      </p:sp>
      <p:sp>
        <p:nvSpPr>
          <p:cNvPr id="6" name="g1-rule"/>
          <p:cNvSpPr/>
          <p:nvPr/>
        </p:nvSpPr>
        <p:spPr>
          <a:xfrm>
            <a:off x="762000" y="1803400"/>
            <a:ext cx="3352800" cy="25400"/>
          </a:xfrm>
          <a:prstGeom prst="rect">
            <a:avLst/>
          </a:prstGeom>
          <a:solidFill>
            <a:srgbClr val="A82E22"/>
          </a:solidFill>
          <a:ln>
            <a:noFill/>
          </a:ln>
        </p:spPr>
      </p:sp>
      <p:sp>
        <p:nvSpPr>
          <p:cNvPr id="7" name="g1-body"/>
          <p:cNvSpPr txBox="1"/>
          <p:nvPr/>
        </p:nvSpPr>
        <p:spPr>
          <a:xfrm>
            <a:off x="762000" y="1955800"/>
            <a:ext cx="33528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600" b="1" noProof="1">
                <a:solidFill>
                  <a:srgbClr val="2B2320"/>
                </a:solidFill>
                <a:latin typeface="MiSans"/>
                <a:ea typeface="MiSans"/>
              </a:rPr>
              <a:t>1 事件有史料出处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1400" noProof="1">
                <a:solidFill>
                  <a:srgbClr val="8A7F72"/>
                </a:solidFill>
                <a:latin typeface="MiSans"/>
                <a:ea typeface="MiSans"/>
              </a:rPr>
              <a:t>所有历史事件均有明确史料出处，避免仅依据 AI 回答或无来源转述。</a:t>
            </a:r>
            <a:endParaRPr lang="en-US" sz="1600" noProof="1"/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en-US" sz="1600" b="1" noProof="1">
                <a:solidFill>
                  <a:srgbClr val="2B2320"/>
                </a:solidFill>
                <a:latin typeface="MiSans"/>
                <a:ea typeface="MiSans"/>
              </a:rPr>
              <a:t>2 人物与权威文献一致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1400" noProof="1">
                <a:solidFill>
                  <a:srgbClr val="8A7F72"/>
                </a:solidFill>
                <a:latin typeface="MiSans"/>
                <a:ea typeface="MiSans"/>
              </a:rPr>
              <a:t>姓名、职务、生卒年、事迹准确；注意同名人物、职务变动和年代差异。</a:t>
            </a:r>
            <a:endParaRPr lang="en-US" sz="1600" noProof="1"/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en-US" sz="1600" b="1" noProof="1">
                <a:solidFill>
                  <a:srgbClr val="2B2320"/>
                </a:solidFill>
                <a:latin typeface="MiSans"/>
                <a:ea typeface="MiSans"/>
              </a:rPr>
              <a:t>3 时间线准确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1400" noProof="1">
                <a:solidFill>
                  <a:srgbClr val="8A7F72"/>
                </a:solidFill>
                <a:latin typeface="MiSans"/>
                <a:ea typeface="MiSans"/>
              </a:rPr>
              <a:t>年月日与先后顺序无误，尽量使用公历纪年。</a:t>
            </a:r>
            <a:endParaRPr lang="en-US" sz="1600" noProof="1"/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en-US" sz="1600" b="1" noProof="1">
                <a:solidFill>
                  <a:srgbClr val="2B2320"/>
                </a:solidFill>
                <a:latin typeface="MiSans"/>
                <a:ea typeface="MiSans"/>
              </a:rPr>
              <a:t>4 器物符合时代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1400" noProof="1">
                <a:solidFill>
                  <a:srgbClr val="8A7F72"/>
                </a:solidFill>
                <a:latin typeface="MiSans"/>
                <a:ea typeface="MiSans"/>
              </a:rPr>
              <a:t>武器装备、军服样式、军旗标识符合该历史时期，易被 AI 混用，注意时代错位。</a:t>
            </a:r>
            <a:endParaRPr lang="en-US" sz="1400" noProof="1">
              <a:solidFill>
                <a:srgbClr val="8A7F72"/>
              </a:solidFill>
              <a:latin typeface="MiSans"/>
              <a:ea typeface="MiSans"/>
            </a:endParaRPr>
          </a:p>
        </p:txBody>
      </p:sp>
      <p:sp>
        <p:nvSpPr>
          <p:cNvPr id="8" name="g2-head"/>
          <p:cNvSpPr txBox="1"/>
          <p:nvPr/>
        </p:nvSpPr>
        <p:spPr>
          <a:xfrm>
            <a:off x="4419600" y="14478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noProof="1">
                <a:solidFill>
                  <a:srgbClr val="A82E22"/>
                </a:solidFill>
                <a:latin typeface="思源宋体"/>
                <a:ea typeface="思源宋体"/>
              </a:rPr>
              <a:t>第二关 · AI 生成内容核查</a:t>
            </a:r>
            <a:endParaRPr lang="en-US" sz="2000" b="1" noProof="1">
              <a:solidFill>
                <a:srgbClr val="A82E22"/>
              </a:solidFill>
              <a:latin typeface="思源宋体"/>
              <a:ea typeface="思源宋体"/>
            </a:endParaRPr>
          </a:p>
        </p:txBody>
      </p:sp>
      <p:sp>
        <p:nvSpPr>
          <p:cNvPr id="9" name="g2-rule"/>
          <p:cNvSpPr/>
          <p:nvPr/>
        </p:nvSpPr>
        <p:spPr>
          <a:xfrm>
            <a:off x="4419600" y="1803400"/>
            <a:ext cx="3352800" cy="25400"/>
          </a:xfrm>
          <a:prstGeom prst="rect">
            <a:avLst/>
          </a:prstGeom>
          <a:solidFill>
            <a:srgbClr val="A82E22"/>
          </a:solidFill>
          <a:ln>
            <a:noFill/>
          </a:ln>
        </p:spPr>
      </p:sp>
      <p:sp>
        <p:nvSpPr>
          <p:cNvPr id="10" name="g2-body"/>
          <p:cNvSpPr txBox="1"/>
          <p:nvPr/>
        </p:nvSpPr>
        <p:spPr>
          <a:xfrm>
            <a:off x="4419600" y="1955800"/>
            <a:ext cx="33528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600" b="1" noProof="1">
                <a:solidFill>
                  <a:srgbClr val="2B2320"/>
                </a:solidFill>
                <a:latin typeface="MiSans"/>
                <a:ea typeface="MiSans"/>
              </a:rPr>
              <a:t>5 人物形象正常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1400" noProof="1">
                <a:solidFill>
                  <a:srgbClr val="8A7F72"/>
                </a:solidFill>
                <a:latin typeface="MiSans"/>
                <a:ea typeface="MiSans"/>
              </a:rPr>
              <a:t>AI 生成的图像、视频中面部、手指、肢体数量正常，逐幅逐帧检查。</a:t>
            </a:r>
            <a:endParaRPr lang="en-US" sz="1600" noProof="1"/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en-US" sz="1600" b="1" noProof="1">
                <a:solidFill>
                  <a:srgbClr val="2B2320"/>
                </a:solidFill>
                <a:latin typeface="MiSans"/>
                <a:ea typeface="MiSans"/>
              </a:rPr>
              <a:t>6 场景无穿越物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1400" noProof="1">
                <a:solidFill>
                  <a:srgbClr val="8A7F72"/>
                </a:solidFill>
                <a:latin typeface="MiSans"/>
                <a:ea typeface="MiSans"/>
              </a:rPr>
              <a:t>不出现该时代不存在的物体，如现代建筑、电力设施、塑料制品。</a:t>
            </a:r>
            <a:endParaRPr lang="en-US" sz="1600" noProof="1"/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en-US" sz="1600" b="1" noProof="1">
                <a:solidFill>
                  <a:srgbClr val="2B2320"/>
                </a:solidFill>
                <a:latin typeface="MiSans"/>
                <a:ea typeface="MiSans"/>
              </a:rPr>
              <a:t>7 不含虚构"史料"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1400" noProof="1">
                <a:solidFill>
                  <a:srgbClr val="8A7F72"/>
                </a:solidFill>
                <a:latin typeface="MiSans"/>
                <a:ea typeface="MiSans"/>
              </a:rPr>
              <a:t>AI 可能编造史料、文献和引文，引用前须回查原文。</a:t>
            </a:r>
            <a:endParaRPr lang="en-US" sz="1600" noProof="1"/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en-US" sz="1600" b="1" noProof="1">
                <a:solidFill>
                  <a:srgbClr val="2B2320"/>
                </a:solidFill>
                <a:latin typeface="MiSans"/>
                <a:ea typeface="MiSans"/>
              </a:rPr>
              <a:t>8 人物言行有据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1400" noProof="1">
                <a:solidFill>
                  <a:srgbClr val="8A7F72"/>
                </a:solidFill>
                <a:latin typeface="MiSans"/>
                <a:ea typeface="MiSans"/>
              </a:rPr>
              <a:t>基于真实史料；合理演绎应在作品中标明，不当作真实史料记载。</a:t>
            </a:r>
            <a:endParaRPr lang="en-US" sz="1400" noProof="1">
              <a:solidFill>
                <a:srgbClr val="8A7F72"/>
              </a:solidFill>
              <a:latin typeface="MiSans"/>
              <a:ea typeface="MiSans"/>
            </a:endParaRPr>
          </a:p>
        </p:txBody>
      </p:sp>
      <p:sp>
        <p:nvSpPr>
          <p:cNvPr id="11" name="g3-head"/>
          <p:cNvSpPr txBox="1"/>
          <p:nvPr/>
        </p:nvSpPr>
        <p:spPr>
          <a:xfrm>
            <a:off x="8077200" y="14478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noProof="1">
                <a:solidFill>
                  <a:srgbClr val="A82E22"/>
                </a:solidFill>
                <a:latin typeface="思源宋体"/>
                <a:ea typeface="思源宋体"/>
              </a:rPr>
              <a:t>第三关 · 史料来源审核</a:t>
            </a:r>
            <a:endParaRPr lang="en-US" sz="2000" b="1" noProof="1">
              <a:solidFill>
                <a:srgbClr val="A82E22"/>
              </a:solidFill>
              <a:latin typeface="思源宋体"/>
              <a:ea typeface="思源宋体"/>
            </a:endParaRPr>
          </a:p>
        </p:txBody>
      </p:sp>
      <p:sp>
        <p:nvSpPr>
          <p:cNvPr id="12" name="g3-rule"/>
          <p:cNvSpPr/>
          <p:nvPr/>
        </p:nvSpPr>
        <p:spPr>
          <a:xfrm>
            <a:off x="8077200" y="1803400"/>
            <a:ext cx="3352800" cy="25400"/>
          </a:xfrm>
          <a:prstGeom prst="rect">
            <a:avLst/>
          </a:prstGeom>
          <a:solidFill>
            <a:srgbClr val="A82E22"/>
          </a:solidFill>
          <a:ln>
            <a:noFill/>
          </a:ln>
        </p:spPr>
      </p:sp>
      <p:sp>
        <p:nvSpPr>
          <p:cNvPr id="13" name="g3-body"/>
          <p:cNvSpPr txBox="1"/>
          <p:nvPr/>
        </p:nvSpPr>
        <p:spPr>
          <a:xfrm>
            <a:off x="8077200" y="1955800"/>
            <a:ext cx="3352800" cy="25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600" b="1" noProof="1">
                <a:solidFill>
                  <a:srgbClr val="2B2320"/>
                </a:solidFill>
                <a:latin typeface="MiSans"/>
                <a:ea typeface="MiSans"/>
              </a:rPr>
              <a:t>9 核心史料权威可靠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1400" noProof="1">
                <a:solidFill>
                  <a:srgbClr val="8A7F72"/>
                </a:solidFill>
                <a:latin typeface="MiSans"/>
                <a:ea typeface="MiSans"/>
              </a:rPr>
              <a:t>优先采用官方档案、学术专著和权威机构出版物。</a:t>
            </a:r>
            <a:endParaRPr lang="en-US" sz="1600" noProof="1"/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en-US" sz="1600" b="1" noProof="1">
                <a:solidFill>
                  <a:srgbClr val="2B2320"/>
                </a:solidFill>
                <a:latin typeface="MiSans"/>
                <a:ea typeface="MiSans"/>
              </a:rPr>
              <a:t>10 不用 AI 生成"史料"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1400" noProof="1">
                <a:solidFill>
                  <a:srgbClr val="8A7F72"/>
                </a:solidFill>
                <a:latin typeface="MiSans"/>
                <a:ea typeface="MiSans"/>
              </a:rPr>
              <a:t>应引用核实后的真实资料，不直接把 AI 回答作为史料。</a:t>
            </a:r>
            <a:endParaRPr lang="en-US" sz="1400" noProof="1">
              <a:solidFill>
                <a:srgbClr val="8A7F72"/>
              </a:solidFill>
              <a:latin typeface="MiSans"/>
              <a:ea typeface="MiSans"/>
            </a:endParaRPr>
          </a:p>
        </p:txBody>
      </p:sp>
      <p:sp>
        <p:nvSpPr>
          <p:cNvPr id="14" name="g3-note-icon"/>
          <p:cNvSpPr/>
          <p:nvPr/>
        </p:nvSpPr>
        <p:spPr>
          <a:xfrm>
            <a:off x="8077200" y="3810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71" y="0"/>
                  <a:pt x="284" y="8"/>
                  <a:pt x="291" y="21"/>
                </a:cubicBezTo>
                <a:lnTo>
                  <a:pt x="507" y="421"/>
                </a:lnTo>
                <a:cubicBezTo>
                  <a:pt x="514" y="433"/>
                  <a:pt x="514" y="448"/>
                  <a:pt x="506" y="461"/>
                </a:cubicBezTo>
                <a:cubicBezTo>
                  <a:pt x="499" y="473"/>
                  <a:pt x="486" y="480"/>
                  <a:pt x="472" y="480"/>
                </a:cubicBezTo>
                <a:lnTo>
                  <a:pt x="40" y="480"/>
                </a:lnTo>
                <a:cubicBezTo>
                  <a:pt x="26" y="480"/>
                  <a:pt x="13" y="473"/>
                  <a:pt x="6" y="461"/>
                </a:cubicBezTo>
                <a:cubicBezTo>
                  <a:pt x="-2" y="448"/>
                  <a:pt x="-2" y="433"/>
                  <a:pt x="5" y="421"/>
                </a:cubicBezTo>
                <a:lnTo>
                  <a:pt x="221" y="21"/>
                </a:lnTo>
                <a:cubicBezTo>
                  <a:pt x="228" y="8"/>
                  <a:pt x="241" y="0"/>
                  <a:pt x="256" y="0"/>
                </a:cubicBezTo>
                <a:close/>
                <a:moveTo>
                  <a:pt x="256" y="352"/>
                </a:moveTo>
                <a:cubicBezTo>
                  <a:pt x="238" y="352"/>
                  <a:pt x="224" y="366"/>
                  <a:pt x="224" y="384"/>
                </a:cubicBezTo>
                <a:cubicBezTo>
                  <a:pt x="224" y="402"/>
                  <a:pt x="238" y="416"/>
                  <a:pt x="256" y="416"/>
                </a:cubicBezTo>
                <a:cubicBezTo>
                  <a:pt x="274" y="416"/>
                  <a:pt x="288" y="402"/>
                  <a:pt x="288" y="384"/>
                </a:cubicBezTo>
                <a:cubicBezTo>
                  <a:pt x="288" y="366"/>
                  <a:pt x="274" y="352"/>
                  <a:pt x="256" y="352"/>
                </a:cubicBezTo>
                <a:close/>
                <a:moveTo>
                  <a:pt x="256" y="160"/>
                </a:moveTo>
                <a:cubicBezTo>
                  <a:pt x="238" y="160"/>
                  <a:pt x="223" y="176"/>
                  <a:pt x="225" y="194"/>
                </a:cubicBezTo>
                <a:lnTo>
                  <a:pt x="232" y="298"/>
                </a:lnTo>
                <a:cubicBezTo>
                  <a:pt x="233" y="310"/>
                  <a:pt x="243" y="320"/>
                  <a:pt x="256" y="320"/>
                </a:cubicBezTo>
                <a:cubicBezTo>
                  <a:pt x="269" y="320"/>
                  <a:pt x="279" y="310"/>
                  <a:pt x="280" y="298"/>
                </a:cubicBezTo>
                <a:lnTo>
                  <a:pt x="287" y="194"/>
                </a:lnTo>
                <a:cubicBezTo>
                  <a:pt x="289" y="176"/>
                  <a:pt x="274" y="160"/>
                  <a:pt x="256" y="160"/>
                </a:cubicBezTo>
                <a:close/>
              </a:path>
            </a:pathLst>
          </a:custGeom>
          <a:solidFill>
            <a:srgbClr val="A82E22"/>
          </a:solidFill>
          <a:ln>
            <a:noFill/>
          </a:ln>
        </p:spPr>
      </p:sp>
      <p:sp>
        <p:nvSpPr>
          <p:cNvPr id="15" name="g3-note"/>
          <p:cNvSpPr txBox="1"/>
          <p:nvPr/>
        </p:nvSpPr>
        <p:spPr>
          <a:xfrm>
            <a:off x="8356600" y="3759200"/>
            <a:ext cx="30734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00" b="1" noProof="1">
                <a:solidFill>
                  <a:srgbClr val="2B2320"/>
                </a:solidFill>
                <a:latin typeface="MiSans"/>
                <a:ea typeface="MiSans"/>
              </a:rPr>
              <a:t>提示：历史人物尽量不要涉及国家领导人。</a:t>
            </a:r>
            <a:endParaRPr lang="en-US" sz="1200" noProof="1"/>
          </a:p>
        </p:txBody>
      </p:sp>
      <p:sp>
        <p:nvSpPr>
          <p:cNvPr id="16" name="note-rule"/>
          <p:cNvSpPr/>
          <p:nvPr/>
        </p:nvSpPr>
        <p:spPr>
          <a:xfrm>
            <a:off x="762000" y="5994400"/>
            <a:ext cx="10668000" cy="12700"/>
          </a:xfrm>
          <a:prstGeom prst="rect">
            <a:avLst/>
          </a:prstGeom>
          <a:solidFill>
            <a:srgbClr val="E4DACA"/>
          </a:solidFill>
          <a:ln>
            <a:noFill/>
          </a:ln>
        </p:spPr>
      </p:sp>
      <p:sp>
        <p:nvSpPr>
          <p:cNvPr id="17" name="note"/>
          <p:cNvSpPr txBox="1"/>
          <p:nvPr/>
        </p:nvSpPr>
        <p:spPr>
          <a:xfrm>
            <a:off x="762000" y="61722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100" noProof="1">
                <a:solidFill>
                  <a:srgbClr val="8A7F72"/>
                </a:solidFill>
                <a:latin typeface="MiSans"/>
                <a:ea typeface="MiSans"/>
              </a:rPr>
              <a:t>清单供创作与修改时参考、</a:t>
            </a:r>
            <a:r>
              <a:rPr lang="en-US" sz="1100" b="1" noProof="1">
                <a:solidFill>
                  <a:srgbClr val="8A7F72"/>
                </a:solidFill>
                <a:latin typeface="MiSans"/>
                <a:ea typeface="MiSans"/>
              </a:rPr>
              <a:t>无需提交</a:t>
            </a:r>
            <a:r>
              <a:rPr lang="en-US" sz="1100" noProof="1">
                <a:solidFill>
                  <a:srgbClr val="8A7F72"/>
                </a:solidFill>
                <a:latin typeface="MiSans"/>
                <a:ea typeface="MiSans"/>
              </a:rPr>
              <a:t>；自查结果可勾选"已确认 / 需核实或修改 / 不涉及"，发现问题及时修正。</a:t>
            </a:r>
            <a:endParaRPr lang="en-US" sz="1100" noProof="1"/>
          </a:p>
        </p:txBody>
      </p:sp>
      <p:sp>
        <p:nvSpPr>
          <p:cNvPr id="18" name="footer-rule"/>
          <p:cNvSpPr/>
          <p:nvPr/>
        </p:nvSpPr>
        <p:spPr>
          <a:xfrm>
            <a:off x="762000" y="6502400"/>
            <a:ext cx="10668000" cy="12700"/>
          </a:xfrm>
          <a:prstGeom prst="rect">
            <a:avLst/>
          </a:prstGeom>
          <a:solidFill>
            <a:srgbClr val="E4DACA"/>
          </a:solidFill>
          <a:ln>
            <a:noFill/>
          </a:ln>
        </p:spPr>
      </p:sp>
      <p:sp>
        <p:nvSpPr>
          <p:cNvPr id="19" name="footer-left"/>
          <p:cNvSpPr txBox="1"/>
          <p:nvPr/>
        </p:nvSpPr>
        <p:spPr>
          <a:xfrm>
            <a:off x="762000" y="6604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8A7F72"/>
                </a:solidFill>
                <a:latin typeface="MiSans"/>
                <a:ea typeface="MiSans"/>
              </a:rPr>
              <a:t>2026第三届校园AI创作者大赛 · 赛事说明</a:t>
            </a:r>
            <a:endParaRPr lang="en-US" sz="1000" noProof="1"/>
          </a:p>
        </p:txBody>
      </p:sp>
      <p:sp>
        <p:nvSpPr>
          <p:cNvPr id="20" name="footer-page"/>
          <p:cNvSpPr txBox="1"/>
          <p:nvPr/>
        </p:nvSpPr>
        <p:spPr>
          <a:xfrm>
            <a:off x="10414000" y="66040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8A7F72"/>
                </a:solidFill>
                <a:latin typeface="MiSans"/>
                <a:ea typeface="MiSans"/>
              </a:rPr>
              <a:t>16 / 28</a:t>
            </a:r>
            <a:endParaRPr lang="en-US" sz="10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064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A82E22"/>
                </a:solidFill>
                <a:latin typeface="MiSans"/>
                <a:ea typeface="MiSans"/>
              </a:rPr>
              <a:t>04 · 学科参考资料与自查清单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6604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700" b="1" noProof="1">
                <a:solidFill>
                  <a:srgbClr val="2B2320"/>
                </a:solidFill>
                <a:latin typeface="思源宋体"/>
                <a:ea typeface="思源宋体"/>
              </a:rPr>
              <a:t>地理与科学性自查清单：三关十项</a:t>
            </a:r>
            <a:endParaRPr lang="en-US" sz="2700" noProof="1"/>
          </a:p>
        </p:txBody>
      </p:sp>
      <p:sp>
        <p:nvSpPr>
          <p:cNvPr id="4" name="title-bar"/>
          <p:cNvSpPr/>
          <p:nvPr/>
        </p:nvSpPr>
        <p:spPr>
          <a:xfrm>
            <a:off x="762000" y="1244600"/>
            <a:ext cx="431800" cy="38100"/>
          </a:xfrm>
          <a:prstGeom prst="rect">
            <a:avLst/>
          </a:prstGeom>
          <a:solidFill>
            <a:srgbClr val="A82E22"/>
          </a:solidFill>
          <a:ln>
            <a:noFill/>
          </a:ln>
        </p:spPr>
      </p:sp>
      <p:sp>
        <p:nvSpPr>
          <p:cNvPr id="5" name="g1-head"/>
          <p:cNvSpPr txBox="1"/>
          <p:nvPr/>
        </p:nvSpPr>
        <p:spPr>
          <a:xfrm>
            <a:off x="762000" y="14478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noProof="1">
                <a:solidFill>
                  <a:srgbClr val="A82E22"/>
                </a:solidFill>
                <a:latin typeface="思源宋体"/>
                <a:ea typeface="思源宋体"/>
              </a:rPr>
              <a:t>第一关 · 地点与环境核查</a:t>
            </a:r>
            <a:endParaRPr lang="en-US" sz="2000" b="1" noProof="1">
              <a:solidFill>
                <a:srgbClr val="A82E22"/>
              </a:solidFill>
              <a:latin typeface="思源宋体"/>
              <a:ea typeface="思源宋体"/>
            </a:endParaRPr>
          </a:p>
        </p:txBody>
      </p:sp>
      <p:sp>
        <p:nvSpPr>
          <p:cNvPr id="6" name="g1-rule"/>
          <p:cNvSpPr/>
          <p:nvPr/>
        </p:nvSpPr>
        <p:spPr>
          <a:xfrm>
            <a:off x="762000" y="1803400"/>
            <a:ext cx="3352800" cy="25400"/>
          </a:xfrm>
          <a:prstGeom prst="rect">
            <a:avLst/>
          </a:prstGeom>
          <a:solidFill>
            <a:srgbClr val="A82E22"/>
          </a:solidFill>
          <a:ln>
            <a:noFill/>
          </a:ln>
        </p:spPr>
      </p:sp>
      <p:sp>
        <p:nvSpPr>
          <p:cNvPr id="7" name="g1-body"/>
          <p:cNvSpPr txBox="1"/>
          <p:nvPr/>
        </p:nvSpPr>
        <p:spPr>
          <a:xfrm>
            <a:off x="762000" y="1955800"/>
            <a:ext cx="33528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600" b="1" noProof="1">
                <a:solidFill>
                  <a:srgbClr val="2B2320"/>
                </a:solidFill>
                <a:latin typeface="MiSans"/>
                <a:ea typeface="MiSans"/>
              </a:rPr>
              <a:t>1 地点与可靠地图相符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1400" noProof="1">
                <a:solidFill>
                  <a:srgbClr val="8A7F72"/>
                </a:solidFill>
                <a:latin typeface="MiSans"/>
                <a:ea typeface="MiSans"/>
              </a:rPr>
              <a:t>地点、河流、山脉、路线与可靠地图相符；勿把 AI 画的地图当准确地图，保留底图来源、年代、审图信息。</a:t>
            </a:r>
            <a:endParaRPr lang="en-US" sz="1600" noProof="1"/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en-US" sz="1600" b="1" noProof="1">
                <a:solidFill>
                  <a:srgbClr val="2B2320"/>
                </a:solidFill>
                <a:latin typeface="MiSans"/>
                <a:ea typeface="MiSans"/>
              </a:rPr>
              <a:t>2 自然景观符合当地实际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1400" noProof="1">
                <a:solidFill>
                  <a:srgbClr val="8A7F72"/>
                </a:solidFill>
                <a:latin typeface="MiSans"/>
                <a:ea typeface="MiSans"/>
              </a:rPr>
              <a:t>地形、植被、动物等自然景观符合当地实际。</a:t>
            </a:r>
            <a:endParaRPr lang="en-US" sz="1600" noProof="1"/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en-US" sz="1600" b="1" noProof="1">
                <a:solidFill>
                  <a:srgbClr val="2B2320"/>
                </a:solidFill>
                <a:latin typeface="MiSans"/>
                <a:ea typeface="MiSans"/>
              </a:rPr>
              <a:t>3 气象水文符合季节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1400" noProof="1">
                <a:solidFill>
                  <a:srgbClr val="8A7F72"/>
                </a:solidFill>
                <a:latin typeface="MiSans"/>
                <a:ea typeface="MiSans"/>
              </a:rPr>
              <a:t>气温、降水、水量等符合该地点和季节。</a:t>
            </a:r>
            <a:endParaRPr lang="en-US" sz="1600" noProof="1"/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en-US" sz="1600" b="1" noProof="1">
                <a:solidFill>
                  <a:srgbClr val="2B2320"/>
                </a:solidFill>
                <a:latin typeface="MiSans"/>
                <a:ea typeface="MiSans"/>
              </a:rPr>
              <a:t>4 历史场景注意变迁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1400" noProof="1">
                <a:solidFill>
                  <a:srgbClr val="8A7F72"/>
                </a:solidFill>
                <a:latin typeface="MiSans"/>
                <a:ea typeface="MiSans"/>
              </a:rPr>
              <a:t>地名、河道、植被可能已变化，历史场景须按当时状况核查。</a:t>
            </a:r>
            <a:endParaRPr lang="en-US" sz="1400" noProof="1">
              <a:solidFill>
                <a:srgbClr val="8A7F72"/>
              </a:solidFill>
              <a:latin typeface="MiSans"/>
              <a:ea typeface="MiSans"/>
            </a:endParaRPr>
          </a:p>
        </p:txBody>
      </p:sp>
      <p:sp>
        <p:nvSpPr>
          <p:cNvPr id="8" name="g2-head"/>
          <p:cNvSpPr txBox="1"/>
          <p:nvPr/>
        </p:nvSpPr>
        <p:spPr>
          <a:xfrm>
            <a:off x="4419600" y="14478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noProof="1">
                <a:solidFill>
                  <a:srgbClr val="A82E22"/>
                </a:solidFill>
                <a:latin typeface="思源宋体"/>
                <a:ea typeface="思源宋体"/>
              </a:rPr>
              <a:t>第二关 · 资料与数据核查</a:t>
            </a:r>
            <a:endParaRPr lang="en-US" sz="2000" b="1" noProof="1">
              <a:solidFill>
                <a:srgbClr val="A82E22"/>
              </a:solidFill>
              <a:latin typeface="思源宋体"/>
              <a:ea typeface="思源宋体"/>
            </a:endParaRPr>
          </a:p>
        </p:txBody>
      </p:sp>
      <p:sp>
        <p:nvSpPr>
          <p:cNvPr id="9" name="g2-rule"/>
          <p:cNvSpPr/>
          <p:nvPr/>
        </p:nvSpPr>
        <p:spPr>
          <a:xfrm>
            <a:off x="4419600" y="1803400"/>
            <a:ext cx="3352800" cy="25400"/>
          </a:xfrm>
          <a:prstGeom prst="rect">
            <a:avLst/>
          </a:prstGeom>
          <a:solidFill>
            <a:srgbClr val="A82E22"/>
          </a:solidFill>
          <a:ln>
            <a:noFill/>
          </a:ln>
        </p:spPr>
      </p:sp>
      <p:sp>
        <p:nvSpPr>
          <p:cNvPr id="10" name="g2-body"/>
          <p:cNvSpPr txBox="1"/>
          <p:nvPr/>
        </p:nvSpPr>
        <p:spPr>
          <a:xfrm>
            <a:off x="4419600" y="1955800"/>
            <a:ext cx="33528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600" b="1" noProof="1">
                <a:solidFill>
                  <a:srgbClr val="2B2320"/>
                </a:solidFill>
                <a:latin typeface="MiSans"/>
                <a:ea typeface="MiSans"/>
              </a:rPr>
              <a:t>5 资料来源正规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1400" noProof="1">
                <a:solidFill>
                  <a:srgbClr val="8A7F72"/>
                </a:solidFill>
                <a:latin typeface="MiSans"/>
                <a:ea typeface="MiSans"/>
              </a:rPr>
              <a:t>查教材、正规地图和官方资料；AI 只提供线索，结论须回到权威来源确认。</a:t>
            </a:r>
            <a:endParaRPr lang="en-US" sz="1600" noProof="1"/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en-US" sz="1600" b="1" noProof="1">
                <a:solidFill>
                  <a:srgbClr val="2B2320"/>
                </a:solidFill>
                <a:latin typeface="MiSans"/>
                <a:ea typeface="MiSans"/>
              </a:rPr>
              <a:t>6 数字有依据、单位正确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1400" noProof="1">
                <a:solidFill>
                  <a:srgbClr val="8A7F72"/>
                </a:solidFill>
                <a:latin typeface="MiSans"/>
                <a:ea typeface="MiSans"/>
              </a:rPr>
              <a:t>数据须可溯源，注意米与千米等单位混淆。</a:t>
            </a:r>
            <a:endParaRPr lang="en-US" sz="1600" noProof="1"/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en-US" sz="1600" b="1" noProof="1">
                <a:solidFill>
                  <a:srgbClr val="2B2320"/>
                </a:solidFill>
                <a:latin typeface="MiSans"/>
                <a:ea typeface="MiSans"/>
              </a:rPr>
              <a:t>7 注意资料适用范围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1400" noProof="1">
                <a:solidFill>
                  <a:srgbClr val="8A7F72"/>
                </a:solidFill>
                <a:latin typeface="MiSans"/>
                <a:ea typeface="MiSans"/>
              </a:rPr>
              <a:t>年平均气温不等于某天山口的气温，引用数据须匹配时间、地点与尺度。</a:t>
            </a:r>
            <a:endParaRPr lang="en-US" sz="1400" noProof="1">
              <a:solidFill>
                <a:srgbClr val="8A7F72"/>
              </a:solidFill>
              <a:latin typeface="MiSans"/>
              <a:ea typeface="MiSans"/>
            </a:endParaRPr>
          </a:p>
        </p:txBody>
      </p:sp>
      <p:sp>
        <p:nvSpPr>
          <p:cNvPr id="11" name="g3-head"/>
          <p:cNvSpPr txBox="1"/>
          <p:nvPr/>
        </p:nvSpPr>
        <p:spPr>
          <a:xfrm>
            <a:off x="8077200" y="14478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noProof="1">
                <a:solidFill>
                  <a:srgbClr val="A82E22"/>
                </a:solidFill>
                <a:latin typeface="思源宋体"/>
                <a:ea typeface="思源宋体"/>
              </a:rPr>
              <a:t>第三关 · 科学与想象边界</a:t>
            </a:r>
            <a:endParaRPr lang="en-US" sz="2000" b="1" noProof="1">
              <a:solidFill>
                <a:srgbClr val="A82E22"/>
              </a:solidFill>
              <a:latin typeface="思源宋体"/>
              <a:ea typeface="思源宋体"/>
            </a:endParaRPr>
          </a:p>
        </p:txBody>
      </p:sp>
      <p:sp>
        <p:nvSpPr>
          <p:cNvPr id="12" name="g3-rule"/>
          <p:cNvSpPr/>
          <p:nvPr/>
        </p:nvSpPr>
        <p:spPr>
          <a:xfrm>
            <a:off x="8077200" y="1803400"/>
            <a:ext cx="3352800" cy="25400"/>
          </a:xfrm>
          <a:prstGeom prst="rect">
            <a:avLst/>
          </a:prstGeom>
          <a:solidFill>
            <a:srgbClr val="A82E22"/>
          </a:solidFill>
          <a:ln>
            <a:noFill/>
          </a:ln>
        </p:spPr>
      </p:sp>
      <p:sp>
        <p:nvSpPr>
          <p:cNvPr id="13" name="g3-body"/>
          <p:cNvSpPr txBox="1"/>
          <p:nvPr/>
        </p:nvSpPr>
        <p:spPr>
          <a:xfrm>
            <a:off x="8077200" y="1955800"/>
            <a:ext cx="33528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600" b="1" noProof="1">
                <a:solidFill>
                  <a:srgbClr val="2B2320"/>
                </a:solidFill>
                <a:latin typeface="MiSans"/>
                <a:ea typeface="MiSans"/>
              </a:rPr>
              <a:t>8 未来场景参考已知科学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1400" noProof="1">
                <a:solidFill>
                  <a:srgbClr val="8A7F72"/>
                </a:solidFill>
                <a:latin typeface="MiSans"/>
                <a:ea typeface="MiSans"/>
              </a:rPr>
              <a:t>科幻与想象内容应有科学依据支撑，不违背基本科学原理。</a:t>
            </a:r>
            <a:endParaRPr lang="en-US" sz="1600" noProof="1"/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en-US" sz="1600" b="1" noProof="1">
                <a:solidFill>
                  <a:srgbClr val="2B2320"/>
                </a:solidFill>
                <a:latin typeface="MiSans"/>
                <a:ea typeface="MiSans"/>
              </a:rPr>
              <a:t>9 设定前后一致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1400" noProof="1">
                <a:solidFill>
                  <a:srgbClr val="8A7F72"/>
                </a:solidFill>
                <a:latin typeface="MiSans"/>
                <a:ea typeface="MiSans"/>
              </a:rPr>
              <a:t>时间、资源消耗等设定前后一致；可以简化，但要说明假设。</a:t>
            </a:r>
            <a:endParaRPr lang="en-US" sz="1600" noProof="1"/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en-US" sz="1600" b="1" noProof="1">
                <a:solidFill>
                  <a:srgbClr val="2B2320"/>
                </a:solidFill>
                <a:latin typeface="MiSans"/>
                <a:ea typeface="MiSans"/>
              </a:rPr>
              <a:t>10 分清事实、推测与设定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1400" noProof="1">
                <a:solidFill>
                  <a:srgbClr val="8A7F72"/>
                </a:solidFill>
                <a:latin typeface="MiSans"/>
                <a:ea typeface="MiSans"/>
              </a:rPr>
              <a:t>三类内容须分别标明，不把想象当作事实陈述。</a:t>
            </a:r>
            <a:endParaRPr lang="en-US" sz="1400" noProof="1">
              <a:solidFill>
                <a:srgbClr val="8A7F72"/>
              </a:solidFill>
              <a:latin typeface="MiSans"/>
              <a:ea typeface="MiSans"/>
            </a:endParaRPr>
          </a:p>
        </p:txBody>
      </p:sp>
      <p:sp>
        <p:nvSpPr>
          <p:cNvPr id="14" name="note-rule"/>
          <p:cNvSpPr/>
          <p:nvPr/>
        </p:nvSpPr>
        <p:spPr>
          <a:xfrm>
            <a:off x="762000" y="5994400"/>
            <a:ext cx="10668000" cy="12700"/>
          </a:xfrm>
          <a:prstGeom prst="rect">
            <a:avLst/>
          </a:prstGeom>
          <a:solidFill>
            <a:srgbClr val="E4DACA"/>
          </a:solidFill>
          <a:ln>
            <a:noFill/>
          </a:ln>
        </p:spPr>
      </p:sp>
      <p:sp>
        <p:nvSpPr>
          <p:cNvPr id="15" name="note"/>
          <p:cNvSpPr txBox="1"/>
          <p:nvPr/>
        </p:nvSpPr>
        <p:spPr>
          <a:xfrm>
            <a:off x="762000" y="60960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100" noProof="1">
                <a:solidFill>
                  <a:srgbClr val="8A7F72"/>
                </a:solidFill>
                <a:latin typeface="MiSans"/>
                <a:ea typeface="MiSans"/>
              </a:rPr>
              <a:t>使用历史地图需注意审图号；标准地图服务：bzdt.ch.mnr.gov.cn。清单无需提交，供创作与修改时逐项自查。</a:t>
            </a:r>
            <a:endParaRPr lang="en-US" sz="1100" noProof="1"/>
          </a:p>
        </p:txBody>
      </p:sp>
      <p:sp>
        <p:nvSpPr>
          <p:cNvPr id="16" name="footer-rule"/>
          <p:cNvSpPr/>
          <p:nvPr/>
        </p:nvSpPr>
        <p:spPr>
          <a:xfrm>
            <a:off x="762000" y="6502400"/>
            <a:ext cx="10668000" cy="12700"/>
          </a:xfrm>
          <a:prstGeom prst="rect">
            <a:avLst/>
          </a:prstGeom>
          <a:solidFill>
            <a:srgbClr val="E4DACA"/>
          </a:solidFill>
          <a:ln>
            <a:noFill/>
          </a:ln>
        </p:spPr>
      </p:sp>
      <p:sp>
        <p:nvSpPr>
          <p:cNvPr id="17" name="footer-left"/>
          <p:cNvSpPr txBox="1"/>
          <p:nvPr/>
        </p:nvSpPr>
        <p:spPr>
          <a:xfrm>
            <a:off x="762000" y="6604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8A7F72"/>
                </a:solidFill>
                <a:latin typeface="MiSans"/>
                <a:ea typeface="MiSans"/>
              </a:rPr>
              <a:t>2026第三届校园AI创作者大赛 · 赛事说明</a:t>
            </a:r>
            <a:endParaRPr lang="en-US" sz="1000" noProof="1"/>
          </a:p>
        </p:txBody>
      </p:sp>
      <p:sp>
        <p:nvSpPr>
          <p:cNvPr id="18" name="footer-page"/>
          <p:cNvSpPr txBox="1"/>
          <p:nvPr/>
        </p:nvSpPr>
        <p:spPr>
          <a:xfrm>
            <a:off x="10414000" y="66040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8A7F72"/>
                </a:solidFill>
                <a:latin typeface="MiSans"/>
                <a:ea typeface="MiSans"/>
              </a:rPr>
              <a:t>17 / 28</a:t>
            </a:r>
            <a:endParaRPr lang="en-US" sz="10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064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A82E22"/>
                </a:solidFill>
                <a:latin typeface="MiSans"/>
                <a:ea typeface="MiSans"/>
              </a:rPr>
              <a:t>04 · 学科参考资料与自查清单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6604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700" b="1" noProof="1">
                <a:solidFill>
                  <a:srgbClr val="2B2320"/>
                </a:solidFill>
                <a:latin typeface="思源宋体"/>
                <a:ea typeface="思源宋体"/>
              </a:rPr>
              <a:t>学生需要提交什么：四类材料</a:t>
            </a:r>
            <a:endParaRPr lang="en-US" sz="2700" noProof="1"/>
          </a:p>
        </p:txBody>
      </p:sp>
      <p:sp>
        <p:nvSpPr>
          <p:cNvPr id="4" name="title-bar"/>
          <p:cNvSpPr/>
          <p:nvPr/>
        </p:nvSpPr>
        <p:spPr>
          <a:xfrm>
            <a:off x="762000" y="1244600"/>
            <a:ext cx="431800" cy="38100"/>
          </a:xfrm>
          <a:prstGeom prst="rect">
            <a:avLst/>
          </a:prstGeom>
          <a:solidFill>
            <a:srgbClr val="A82E22"/>
          </a:solidFill>
          <a:ln>
            <a:noFill/>
          </a:ln>
        </p:spPr>
      </p:sp>
      <p:sp>
        <p:nvSpPr>
          <p:cNvPr id="5" name="c1-card"/>
          <p:cNvSpPr/>
          <p:nvPr/>
        </p:nvSpPr>
        <p:spPr>
          <a:xfrm>
            <a:off x="762000" y="1498600"/>
            <a:ext cx="5181600" cy="2006600"/>
          </a:xfrm>
          <a:prstGeom prst="rect">
            <a:avLst/>
          </a:prstGeom>
          <a:solidFill>
            <a:srgbClr val="F3EDE2"/>
          </a:solidFill>
          <a:ln>
            <a:noFill/>
          </a:ln>
        </p:spPr>
      </p:sp>
      <p:sp>
        <p:nvSpPr>
          <p:cNvPr id="6" name="c1-num"/>
          <p:cNvSpPr txBox="1"/>
          <p:nvPr/>
        </p:nvSpPr>
        <p:spPr>
          <a:xfrm>
            <a:off x="1016000" y="1676400"/>
            <a:ext cx="7112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800" b="1" noProof="1">
                <a:solidFill>
                  <a:srgbClr val="C9A227"/>
                </a:solidFill>
                <a:latin typeface="思源宋体"/>
                <a:ea typeface="思源宋体"/>
              </a:rPr>
              <a:t>01</a:t>
            </a:r>
            <a:endParaRPr lang="en-US" sz="2800" noProof="1"/>
          </a:p>
        </p:txBody>
      </p:sp>
      <p:sp>
        <p:nvSpPr>
          <p:cNvPr id="7" name="c1-head"/>
          <p:cNvSpPr txBox="1"/>
          <p:nvPr/>
        </p:nvSpPr>
        <p:spPr>
          <a:xfrm>
            <a:off x="1778000" y="1778000"/>
            <a:ext cx="39116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noProof="1">
                <a:solidFill>
                  <a:srgbClr val="2B2320"/>
                </a:solidFill>
                <a:latin typeface="思源宋体"/>
                <a:ea typeface="思源宋体"/>
              </a:rPr>
              <a:t>报名信息</a:t>
            </a:r>
            <a:endParaRPr lang="en-US" sz="2000" b="1" noProof="1">
              <a:solidFill>
                <a:srgbClr val="2B2320"/>
              </a:solidFill>
              <a:latin typeface="思源宋体"/>
              <a:ea typeface="思源宋体"/>
            </a:endParaRPr>
          </a:p>
        </p:txBody>
      </p:sp>
      <p:sp>
        <p:nvSpPr>
          <p:cNvPr id="8" name="c1-body"/>
          <p:cNvSpPr txBox="1"/>
          <p:nvPr/>
        </p:nvSpPr>
        <p:spPr>
          <a:xfrm>
            <a:off x="1016000" y="2260600"/>
            <a:ext cx="4673600" cy="111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noProof="1">
                <a:solidFill>
                  <a:srgbClr val="2B2320"/>
                </a:solidFill>
                <a:latin typeface="MiSans"/>
                <a:ea typeface="MiSans"/>
              </a:rPr>
              <a:t>组别、赛道、团队成员及指导教师。成员排序以报名表为准，</a:t>
            </a:r>
            <a:r>
              <a:rPr lang="en-US" sz="1600" b="1" noProof="1">
                <a:solidFill>
                  <a:srgbClr val="2B2320"/>
                </a:solidFill>
                <a:latin typeface="MiSans"/>
                <a:ea typeface="MiSans"/>
              </a:rPr>
              <a:t>第一名默认为团队负责人</a:t>
            </a:r>
            <a:r>
              <a:rPr lang="en-US" sz="1600" noProof="1">
                <a:solidFill>
                  <a:srgbClr val="2B2320"/>
                </a:solidFill>
                <a:latin typeface="MiSans"/>
                <a:ea typeface="MiSans"/>
              </a:rPr>
              <a:t>。</a:t>
            </a:r>
            <a:endParaRPr lang="en-US" sz="1600" noProof="1">
              <a:solidFill>
                <a:srgbClr val="2B2320"/>
              </a:solidFill>
              <a:latin typeface="MiSans"/>
              <a:ea typeface="MiSans"/>
            </a:endParaRPr>
          </a:p>
        </p:txBody>
      </p:sp>
      <p:sp>
        <p:nvSpPr>
          <p:cNvPr id="9" name="c2-card"/>
          <p:cNvSpPr/>
          <p:nvPr/>
        </p:nvSpPr>
        <p:spPr>
          <a:xfrm>
            <a:off x="6248400" y="1498600"/>
            <a:ext cx="5181600" cy="2006600"/>
          </a:xfrm>
          <a:prstGeom prst="rect">
            <a:avLst/>
          </a:prstGeom>
          <a:solidFill>
            <a:srgbClr val="F3EDE2"/>
          </a:solidFill>
          <a:ln>
            <a:noFill/>
          </a:ln>
        </p:spPr>
      </p:sp>
      <p:sp>
        <p:nvSpPr>
          <p:cNvPr id="10" name="c2-num"/>
          <p:cNvSpPr txBox="1"/>
          <p:nvPr/>
        </p:nvSpPr>
        <p:spPr>
          <a:xfrm>
            <a:off x="6502400" y="1676400"/>
            <a:ext cx="7112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800" b="1" noProof="1">
                <a:solidFill>
                  <a:srgbClr val="C9A227"/>
                </a:solidFill>
                <a:latin typeface="思源宋体"/>
                <a:ea typeface="思源宋体"/>
              </a:rPr>
              <a:t>02</a:t>
            </a:r>
            <a:endParaRPr lang="en-US" sz="2800" noProof="1"/>
          </a:p>
        </p:txBody>
      </p:sp>
      <p:sp>
        <p:nvSpPr>
          <p:cNvPr id="11" name="c2-head"/>
          <p:cNvSpPr txBox="1"/>
          <p:nvPr/>
        </p:nvSpPr>
        <p:spPr>
          <a:xfrm>
            <a:off x="7264400" y="1778000"/>
            <a:ext cx="39116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noProof="1">
                <a:solidFill>
                  <a:srgbClr val="2B2320"/>
                </a:solidFill>
                <a:latin typeface="思源宋体"/>
                <a:ea typeface="思源宋体"/>
              </a:rPr>
              <a:t>作品成品</a:t>
            </a:r>
            <a:endParaRPr lang="en-US" sz="2000" b="1" noProof="1">
              <a:solidFill>
                <a:srgbClr val="2B2320"/>
              </a:solidFill>
              <a:latin typeface="思源宋体"/>
              <a:ea typeface="思源宋体"/>
            </a:endParaRPr>
          </a:p>
        </p:txBody>
      </p:sp>
      <p:sp>
        <p:nvSpPr>
          <p:cNvPr id="12" name="c2-body"/>
          <p:cNvSpPr txBox="1"/>
          <p:nvPr/>
        </p:nvSpPr>
        <p:spPr>
          <a:xfrm>
            <a:off x="6502400" y="2260600"/>
            <a:ext cx="4673600" cy="111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noProof="1">
                <a:solidFill>
                  <a:srgbClr val="2B2320"/>
                </a:solidFill>
                <a:latin typeface="MiSans"/>
                <a:ea typeface="MiSans"/>
              </a:rPr>
              <a:t>按所报赛道的规格要求提交（美术、音乐、交互地理、交互游戏各有格式与大小要求）。</a:t>
            </a:r>
            <a:endParaRPr lang="en-US" sz="1600" noProof="1">
              <a:solidFill>
                <a:srgbClr val="2B2320"/>
              </a:solidFill>
              <a:latin typeface="MiSans"/>
              <a:ea typeface="MiSans"/>
            </a:endParaRPr>
          </a:p>
        </p:txBody>
      </p:sp>
      <p:sp>
        <p:nvSpPr>
          <p:cNvPr id="13" name="c3-card"/>
          <p:cNvSpPr/>
          <p:nvPr/>
        </p:nvSpPr>
        <p:spPr>
          <a:xfrm>
            <a:off x="762000" y="3708400"/>
            <a:ext cx="5181600" cy="2006600"/>
          </a:xfrm>
          <a:prstGeom prst="rect">
            <a:avLst/>
          </a:prstGeom>
          <a:solidFill>
            <a:srgbClr val="F3EDE2"/>
          </a:solidFill>
          <a:ln>
            <a:noFill/>
          </a:ln>
        </p:spPr>
      </p:sp>
      <p:sp>
        <p:nvSpPr>
          <p:cNvPr id="14" name="c3-num"/>
          <p:cNvSpPr txBox="1"/>
          <p:nvPr/>
        </p:nvSpPr>
        <p:spPr>
          <a:xfrm>
            <a:off x="1016000" y="3886200"/>
            <a:ext cx="7112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800" b="1" noProof="1">
                <a:solidFill>
                  <a:srgbClr val="C9A227"/>
                </a:solidFill>
                <a:latin typeface="思源宋体"/>
                <a:ea typeface="思源宋体"/>
              </a:rPr>
              <a:t>03</a:t>
            </a:r>
            <a:endParaRPr lang="en-US" sz="2800" noProof="1"/>
          </a:p>
        </p:txBody>
      </p:sp>
      <p:sp>
        <p:nvSpPr>
          <p:cNvPr id="15" name="c3-head"/>
          <p:cNvSpPr txBox="1"/>
          <p:nvPr/>
        </p:nvSpPr>
        <p:spPr>
          <a:xfrm>
            <a:off x="1778000" y="3987800"/>
            <a:ext cx="39116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noProof="1">
                <a:solidFill>
                  <a:srgbClr val="2B2320"/>
                </a:solidFill>
                <a:latin typeface="思源宋体"/>
                <a:ea typeface="思源宋体"/>
              </a:rPr>
              <a:t>演示视频</a:t>
            </a:r>
            <a:endParaRPr lang="en-US" sz="2000" b="1" noProof="1">
              <a:solidFill>
                <a:srgbClr val="2B2320"/>
              </a:solidFill>
              <a:latin typeface="思源宋体"/>
              <a:ea typeface="思源宋体"/>
            </a:endParaRPr>
          </a:p>
        </p:txBody>
      </p:sp>
      <p:sp>
        <p:nvSpPr>
          <p:cNvPr id="16" name="c3-body"/>
          <p:cNvSpPr txBox="1"/>
          <p:nvPr/>
        </p:nvSpPr>
        <p:spPr>
          <a:xfrm>
            <a:off x="1016000" y="4470400"/>
            <a:ext cx="46736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noProof="1">
                <a:solidFill>
                  <a:srgbClr val="2B2320"/>
                </a:solidFill>
                <a:latin typeface="MiSans"/>
                <a:ea typeface="MiSans"/>
              </a:rPr>
              <a:t>不超过 3 分钟，MP4 格式。</a:t>
            </a:r>
            <a:r>
              <a:rPr lang="en-US" sz="1600" b="1" noProof="1">
                <a:solidFill>
                  <a:srgbClr val="2B2320"/>
                </a:solidFill>
                <a:latin typeface="MiSans"/>
                <a:ea typeface="MiSans"/>
              </a:rPr>
              <a:t>不得出现学生、学校、指导教师信息</a:t>
            </a:r>
            <a:r>
              <a:rPr lang="en-US" sz="1600" noProof="1">
                <a:solidFill>
                  <a:srgbClr val="2B2320"/>
                </a:solidFill>
                <a:latin typeface="MiSans"/>
                <a:ea typeface="MiSans"/>
              </a:rPr>
              <a:t>；不得通过剪辑掩盖问题。</a:t>
            </a:r>
            <a:endParaRPr lang="en-US" sz="1600" noProof="1">
              <a:solidFill>
                <a:srgbClr val="2B2320"/>
              </a:solidFill>
              <a:latin typeface="MiSans"/>
              <a:ea typeface="MiSans"/>
            </a:endParaRPr>
          </a:p>
        </p:txBody>
      </p:sp>
      <p:sp>
        <p:nvSpPr>
          <p:cNvPr id="17" name="c4-card"/>
          <p:cNvSpPr/>
          <p:nvPr/>
        </p:nvSpPr>
        <p:spPr>
          <a:xfrm>
            <a:off x="6248400" y="3708400"/>
            <a:ext cx="5181600" cy="2006600"/>
          </a:xfrm>
          <a:prstGeom prst="rect">
            <a:avLst/>
          </a:prstGeom>
          <a:solidFill>
            <a:srgbClr val="F3EDE2"/>
          </a:solidFill>
          <a:ln>
            <a:noFill/>
          </a:ln>
        </p:spPr>
      </p:sp>
      <p:sp>
        <p:nvSpPr>
          <p:cNvPr id="18" name="c4-num"/>
          <p:cNvSpPr txBox="1"/>
          <p:nvPr/>
        </p:nvSpPr>
        <p:spPr>
          <a:xfrm>
            <a:off x="6502400" y="3886200"/>
            <a:ext cx="7112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800" b="1" noProof="1">
                <a:solidFill>
                  <a:srgbClr val="C9A227"/>
                </a:solidFill>
                <a:latin typeface="思源宋体"/>
                <a:ea typeface="思源宋体"/>
              </a:rPr>
              <a:t>04</a:t>
            </a:r>
            <a:endParaRPr lang="en-US" sz="2800" noProof="1"/>
          </a:p>
        </p:txBody>
      </p:sp>
      <p:sp>
        <p:nvSpPr>
          <p:cNvPr id="19" name="c4-head"/>
          <p:cNvSpPr txBox="1"/>
          <p:nvPr/>
        </p:nvSpPr>
        <p:spPr>
          <a:xfrm>
            <a:off x="7264400" y="3987800"/>
            <a:ext cx="39116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noProof="1">
                <a:solidFill>
                  <a:srgbClr val="2B2320"/>
                </a:solidFill>
                <a:latin typeface="思源宋体"/>
                <a:ea typeface="思源宋体"/>
              </a:rPr>
              <a:t>创作说明 PDF</a:t>
            </a:r>
            <a:endParaRPr lang="en-US" sz="2000" b="1" noProof="1">
              <a:solidFill>
                <a:srgbClr val="2B2320"/>
              </a:solidFill>
              <a:latin typeface="思源宋体"/>
              <a:ea typeface="思源宋体"/>
            </a:endParaRPr>
          </a:p>
        </p:txBody>
      </p:sp>
      <p:sp>
        <p:nvSpPr>
          <p:cNvPr id="20" name="c4-body"/>
          <p:cNvSpPr txBox="1"/>
          <p:nvPr/>
        </p:nvSpPr>
        <p:spPr>
          <a:xfrm>
            <a:off x="6502400" y="4470400"/>
            <a:ext cx="46736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noProof="1">
                <a:solidFill>
                  <a:srgbClr val="2B2320"/>
                </a:solidFill>
                <a:latin typeface="MiSans"/>
                <a:ea typeface="MiSans"/>
              </a:rPr>
              <a:t>使用平台提供的《创作说明》模板，按 </a:t>
            </a:r>
            <a:r>
              <a:rPr lang="en-US" sz="1600" b="1" noProof="1">
                <a:solidFill>
                  <a:srgbClr val="2B2320"/>
                </a:solidFill>
                <a:latin typeface="MiSans"/>
                <a:ea typeface="MiSans"/>
              </a:rPr>
              <a:t>A / B / C 三模块</a:t>
            </a:r>
            <a:r>
              <a:rPr lang="en-US" sz="1600" noProof="1">
                <a:solidFill>
                  <a:srgbClr val="2B2320"/>
                </a:solidFill>
                <a:latin typeface="MiSans"/>
                <a:ea typeface="MiSans"/>
              </a:rPr>
              <a:t>简要填写，导出 PDF 提交（填写要点见下页）。</a:t>
            </a:r>
            <a:endParaRPr lang="en-US" sz="1600" noProof="1">
              <a:solidFill>
                <a:srgbClr val="2B2320"/>
              </a:solidFill>
              <a:latin typeface="MiSans"/>
              <a:ea typeface="MiSans"/>
            </a:endParaRPr>
          </a:p>
        </p:txBody>
      </p:sp>
      <p:sp>
        <p:nvSpPr>
          <p:cNvPr id="21" name="note-rule"/>
          <p:cNvSpPr/>
          <p:nvPr/>
        </p:nvSpPr>
        <p:spPr>
          <a:xfrm>
            <a:off x="762000" y="5994400"/>
            <a:ext cx="10668000" cy="12700"/>
          </a:xfrm>
          <a:prstGeom prst="rect">
            <a:avLst/>
          </a:prstGeom>
          <a:solidFill>
            <a:srgbClr val="E4DACA"/>
          </a:solidFill>
          <a:ln>
            <a:noFill/>
          </a:ln>
        </p:spPr>
      </p:sp>
      <p:sp>
        <p:nvSpPr>
          <p:cNvPr id="22" name="note"/>
          <p:cNvSpPr txBox="1"/>
          <p:nvPr/>
        </p:nvSpPr>
        <p:spPr>
          <a:xfrm>
            <a:off x="762000" y="60960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150" b="1" noProof="1">
                <a:solidFill>
                  <a:srgbClr val="A82E22"/>
                </a:solidFill>
                <a:latin typeface="MiSans"/>
                <a:ea typeface="MiSans"/>
              </a:rPr>
              <a:t>盲评提醒：</a:t>
            </a:r>
            <a:r>
              <a:rPr lang="en-US" sz="1150" noProof="1">
                <a:solidFill>
                  <a:srgbClr val="A82E22"/>
                </a:solidFill>
                <a:latin typeface="MiSans"/>
                <a:ea typeface="MiSans"/>
              </a:rPr>
              <a:t>所有评审材料中不出现姓名、学校、班级和指导教师信息。</a:t>
            </a:r>
            <a:endParaRPr lang="en-US" sz="1150" noProof="1"/>
          </a:p>
        </p:txBody>
      </p:sp>
      <p:sp>
        <p:nvSpPr>
          <p:cNvPr id="23" name="footer-rule"/>
          <p:cNvSpPr/>
          <p:nvPr/>
        </p:nvSpPr>
        <p:spPr>
          <a:xfrm>
            <a:off x="762000" y="6502400"/>
            <a:ext cx="10668000" cy="12700"/>
          </a:xfrm>
          <a:prstGeom prst="rect">
            <a:avLst/>
          </a:prstGeom>
          <a:solidFill>
            <a:srgbClr val="E4DACA"/>
          </a:solidFill>
          <a:ln>
            <a:noFill/>
          </a:ln>
        </p:spPr>
      </p:sp>
      <p:sp>
        <p:nvSpPr>
          <p:cNvPr id="24" name="footer-left"/>
          <p:cNvSpPr txBox="1"/>
          <p:nvPr/>
        </p:nvSpPr>
        <p:spPr>
          <a:xfrm>
            <a:off x="762000" y="6604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8A7F72"/>
                </a:solidFill>
                <a:latin typeface="MiSans"/>
                <a:ea typeface="MiSans"/>
              </a:rPr>
              <a:t>2026第三届校园AI创作者大赛 · 赛事说明</a:t>
            </a:r>
            <a:endParaRPr lang="en-US" sz="1000" noProof="1"/>
          </a:p>
        </p:txBody>
      </p:sp>
      <p:sp>
        <p:nvSpPr>
          <p:cNvPr id="25" name="footer-page"/>
          <p:cNvSpPr txBox="1"/>
          <p:nvPr/>
        </p:nvSpPr>
        <p:spPr>
          <a:xfrm>
            <a:off x="10414000" y="66040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8A7F72"/>
                </a:solidFill>
                <a:latin typeface="MiSans"/>
                <a:ea typeface="MiSans"/>
              </a:rPr>
              <a:t>18 / 28</a:t>
            </a:r>
            <a:endParaRPr lang="en-US" sz="10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064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A82E22"/>
                </a:solidFill>
                <a:latin typeface="MiSans"/>
                <a:ea typeface="MiSans"/>
              </a:rPr>
              <a:t>04 · 学科参考资料与自查清单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6604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700" b="1" noProof="1">
                <a:solidFill>
                  <a:srgbClr val="2B2320"/>
                </a:solidFill>
                <a:latin typeface="思源宋体"/>
                <a:ea typeface="思源宋体"/>
              </a:rPr>
              <a:t>创作说明怎么填：A / B / C 三模块</a:t>
            </a:r>
            <a:endParaRPr lang="en-US" sz="2700" noProof="1"/>
          </a:p>
        </p:txBody>
      </p:sp>
      <p:sp>
        <p:nvSpPr>
          <p:cNvPr id="4" name="title-bar"/>
          <p:cNvSpPr/>
          <p:nvPr/>
        </p:nvSpPr>
        <p:spPr>
          <a:xfrm>
            <a:off x="762000" y="1244600"/>
            <a:ext cx="431800" cy="38100"/>
          </a:xfrm>
          <a:prstGeom prst="rect">
            <a:avLst/>
          </a:prstGeom>
          <a:solidFill>
            <a:srgbClr val="A82E22"/>
          </a:solidFill>
          <a:ln>
            <a:noFill/>
          </a:ln>
        </p:spPr>
      </p:sp>
      <p:sp>
        <p:nvSpPr>
          <p:cNvPr id="5" name="a-head"/>
          <p:cNvSpPr txBox="1"/>
          <p:nvPr/>
        </p:nvSpPr>
        <p:spPr>
          <a:xfrm>
            <a:off x="762000" y="14478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noProof="1">
                <a:solidFill>
                  <a:srgbClr val="A82E22"/>
                </a:solidFill>
                <a:latin typeface="思源宋体"/>
                <a:ea typeface="思源宋体"/>
              </a:rPr>
              <a:t>A · 专业创作与完成情况</a:t>
            </a:r>
            <a:endParaRPr lang="en-US" sz="2000" b="1" noProof="1">
              <a:solidFill>
                <a:srgbClr val="A82E22"/>
              </a:solidFill>
              <a:latin typeface="思源宋体"/>
              <a:ea typeface="思源宋体"/>
            </a:endParaRPr>
          </a:p>
        </p:txBody>
      </p:sp>
      <p:sp>
        <p:nvSpPr>
          <p:cNvPr id="6" name="a-rule"/>
          <p:cNvSpPr/>
          <p:nvPr/>
        </p:nvSpPr>
        <p:spPr>
          <a:xfrm>
            <a:off x="762000" y="1803400"/>
            <a:ext cx="3352800" cy="25400"/>
          </a:xfrm>
          <a:prstGeom prst="rect">
            <a:avLst/>
          </a:prstGeom>
          <a:solidFill>
            <a:srgbClr val="A82E22"/>
          </a:solidFill>
          <a:ln>
            <a:noFill/>
          </a:ln>
        </p:spPr>
      </p:sp>
      <p:sp>
        <p:nvSpPr>
          <p:cNvPr id="7" name="a-body"/>
          <p:cNvSpPr txBox="1"/>
          <p:nvPr/>
        </p:nvSpPr>
        <p:spPr>
          <a:xfrm>
            <a:off x="762000" y="1955800"/>
            <a:ext cx="3352800" cy="401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600" b="1" noProof="1">
                <a:solidFill>
                  <a:srgbClr val="2B2320"/>
                </a:solidFill>
                <a:latin typeface="MiSans"/>
                <a:ea typeface="MiSans"/>
              </a:rPr>
              <a:t>A1 概述与专业设计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1400" noProof="1">
                <a:solidFill>
                  <a:srgbClr val="8A7F72"/>
                </a:solidFill>
                <a:latin typeface="MiSans"/>
                <a:ea typeface="MiSans"/>
              </a:rPr>
              <a:t>美术写叙事、画面衔接与视觉设计；音乐写结构、主题发展与声音设计；交互写规则、操作流程与反馈。</a:t>
            </a:r>
            <a:endParaRPr lang="en-US" sz="1600" noProof="1"/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en-US" sz="1600" b="1" noProof="1">
                <a:solidFill>
                  <a:srgbClr val="2B2320"/>
                </a:solidFill>
                <a:latin typeface="MiSans"/>
                <a:ea typeface="MiSans"/>
              </a:rPr>
              <a:t>A2 关键工作与问题解决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1400" noProof="1">
                <a:solidFill>
                  <a:srgbClr val="8A7F72"/>
                </a:solidFill>
                <a:latin typeface="MiSans"/>
                <a:ea typeface="MiSans"/>
              </a:rPr>
              <a:t>人工主导构思、制作、筛选、修改、调试；分工用代号；记录 1 个 AI 未达预期的限制，及人工介入前后的对比。</a:t>
            </a:r>
            <a:endParaRPr lang="en-US" sz="1400" noProof="1">
              <a:solidFill>
                <a:srgbClr val="8A7F72"/>
              </a:solidFill>
              <a:latin typeface="MiSans"/>
              <a:ea typeface="MiSans"/>
            </a:endParaRPr>
          </a:p>
        </p:txBody>
      </p:sp>
      <p:sp>
        <p:nvSpPr>
          <p:cNvPr id="8" name="b-head"/>
          <p:cNvSpPr txBox="1"/>
          <p:nvPr/>
        </p:nvSpPr>
        <p:spPr>
          <a:xfrm>
            <a:off x="4419600" y="14478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noProof="1">
                <a:solidFill>
                  <a:srgbClr val="A82E22"/>
                </a:solidFill>
                <a:latin typeface="思源宋体"/>
                <a:ea typeface="思源宋体"/>
              </a:rPr>
              <a:t>B · 学科依据与关键核验</a:t>
            </a:r>
            <a:endParaRPr lang="en-US" sz="2000" b="1" noProof="1">
              <a:solidFill>
                <a:srgbClr val="A82E22"/>
              </a:solidFill>
              <a:latin typeface="思源宋体"/>
              <a:ea typeface="思源宋体"/>
            </a:endParaRPr>
          </a:p>
        </p:txBody>
      </p:sp>
      <p:sp>
        <p:nvSpPr>
          <p:cNvPr id="9" name="b-rule"/>
          <p:cNvSpPr/>
          <p:nvPr/>
        </p:nvSpPr>
        <p:spPr>
          <a:xfrm>
            <a:off x="4419600" y="1803400"/>
            <a:ext cx="3352800" cy="25400"/>
          </a:xfrm>
          <a:prstGeom prst="rect">
            <a:avLst/>
          </a:prstGeom>
          <a:solidFill>
            <a:srgbClr val="A82E22"/>
          </a:solidFill>
          <a:ln>
            <a:noFill/>
          </a:ln>
        </p:spPr>
      </p:sp>
      <p:sp>
        <p:nvSpPr>
          <p:cNvPr id="10" name="b-body"/>
          <p:cNvSpPr txBox="1"/>
          <p:nvPr/>
        </p:nvSpPr>
        <p:spPr>
          <a:xfrm>
            <a:off x="4419600" y="1955800"/>
            <a:ext cx="3352800" cy="401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600" b="1" noProof="1">
                <a:solidFill>
                  <a:srgbClr val="2B2320"/>
                </a:solidFill>
                <a:latin typeface="MiSans"/>
                <a:ea typeface="MiSans"/>
              </a:rPr>
              <a:t>B1 关键事实及依据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1400" noProof="1">
                <a:solidFill>
                  <a:srgbClr val="8A7F72"/>
                </a:solidFill>
                <a:latin typeface="MiSans"/>
                <a:ea typeface="MiSans"/>
              </a:rPr>
              <a:t>优先写影响主题、叙事、规则的内容；来源写名称、作者、链接；地图注明底图来源、年代、审图号；核验结论可写：史实 / 科学事实 / 合理推演 / 艺术演绎 / 尚存疑点。</a:t>
            </a:r>
            <a:endParaRPr lang="en-US" sz="1600" noProof="1"/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en-US" sz="1600" b="1" noProof="1">
                <a:solidFill>
                  <a:srgbClr val="2B2320"/>
                </a:solidFill>
                <a:latin typeface="MiSans"/>
                <a:ea typeface="MiSans"/>
              </a:rPr>
              <a:t>B2 代表性核验记录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1400" noProof="1">
                <a:solidFill>
                  <a:srgbClr val="8A7F72"/>
                </a:solidFill>
                <a:latin typeface="MiSans"/>
                <a:ea typeface="MiSans"/>
              </a:rPr>
              <a:t>1 条实际 Prompt 与生成结果，加人工取舍说明；无修改也可如实填写，不要制造错误。</a:t>
            </a:r>
            <a:endParaRPr lang="en-US" sz="1400" noProof="1">
              <a:solidFill>
                <a:srgbClr val="8A7F72"/>
              </a:solidFill>
              <a:latin typeface="MiSans"/>
              <a:ea typeface="MiSans"/>
            </a:endParaRPr>
          </a:p>
        </p:txBody>
      </p:sp>
      <p:sp>
        <p:nvSpPr>
          <p:cNvPr id="11" name="c-head"/>
          <p:cNvSpPr txBox="1"/>
          <p:nvPr/>
        </p:nvSpPr>
        <p:spPr>
          <a:xfrm>
            <a:off x="8077200" y="14478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noProof="1">
                <a:solidFill>
                  <a:srgbClr val="A82E22"/>
                </a:solidFill>
                <a:latin typeface="思源宋体"/>
                <a:ea typeface="思源宋体"/>
              </a:rPr>
              <a:t>C · 价值表达与 AI 使用说明</a:t>
            </a:r>
            <a:endParaRPr lang="en-US" sz="2000" b="1" noProof="1">
              <a:solidFill>
                <a:srgbClr val="A82E22"/>
              </a:solidFill>
              <a:latin typeface="思源宋体"/>
              <a:ea typeface="思源宋体"/>
            </a:endParaRPr>
          </a:p>
        </p:txBody>
      </p:sp>
      <p:sp>
        <p:nvSpPr>
          <p:cNvPr id="12" name="c-rule"/>
          <p:cNvSpPr/>
          <p:nvPr/>
        </p:nvSpPr>
        <p:spPr>
          <a:xfrm>
            <a:off x="8077200" y="1803400"/>
            <a:ext cx="3352800" cy="25400"/>
          </a:xfrm>
          <a:prstGeom prst="rect">
            <a:avLst/>
          </a:prstGeom>
          <a:solidFill>
            <a:srgbClr val="A82E22"/>
          </a:solidFill>
          <a:ln>
            <a:noFill/>
          </a:ln>
        </p:spPr>
      </p:sp>
      <p:sp>
        <p:nvSpPr>
          <p:cNvPr id="13" name="c-body"/>
          <p:cNvSpPr txBox="1"/>
          <p:nvPr/>
        </p:nvSpPr>
        <p:spPr>
          <a:xfrm>
            <a:off x="8077200" y="1955800"/>
            <a:ext cx="3352800" cy="401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600" b="1" noProof="1">
                <a:solidFill>
                  <a:srgbClr val="2B2320"/>
                </a:solidFill>
                <a:latin typeface="MiSans"/>
                <a:ea typeface="MiSans"/>
              </a:rPr>
              <a:t>C1 立意与具体表达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1400" noProof="1">
                <a:solidFill>
                  <a:srgbClr val="8A7F72"/>
                </a:solidFill>
                <a:latin typeface="MiSans"/>
                <a:ea typeface="MiSans"/>
              </a:rPr>
              <a:t>联系科技创新、社会发展、青年责任，并举一处成品中的具体位置。</a:t>
            </a:r>
            <a:endParaRPr lang="en-US" sz="1600" noProof="1"/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en-US" sz="1600" b="1" noProof="1">
                <a:solidFill>
                  <a:srgbClr val="2B2320"/>
                </a:solidFill>
                <a:latin typeface="MiSans"/>
                <a:ea typeface="MiSans"/>
              </a:rPr>
              <a:t>C2 AI 工具与使用范围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1400" noProof="1">
                <a:solidFill>
                  <a:srgbClr val="8A7F72"/>
                </a:solidFill>
                <a:latin typeface="MiSans"/>
                <a:ea typeface="MiSans"/>
              </a:rPr>
              <a:t>写明工具与用途，版本不明时填使用日期。</a:t>
            </a:r>
            <a:endParaRPr lang="en-US" sz="1600" noProof="1"/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en-US" sz="1600" b="1" noProof="1">
                <a:solidFill>
                  <a:srgbClr val="2B2320"/>
                </a:solidFill>
                <a:latin typeface="MiSans"/>
                <a:ea typeface="MiSans"/>
              </a:rPr>
              <a:t>C3 第三方素材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1400" noProof="1">
                <a:solidFill>
                  <a:srgbClr val="8A7F72"/>
                </a:solidFill>
                <a:latin typeface="MiSans"/>
                <a:ea typeface="MiSans"/>
              </a:rPr>
              <a:t>列明来源与授权情况，没有则填"无"。</a:t>
            </a:r>
            <a:endParaRPr lang="en-US" sz="1600" noProof="1"/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en-US" sz="1600" b="1" noProof="1">
                <a:solidFill>
                  <a:srgbClr val="2B2320"/>
                </a:solidFill>
                <a:latin typeface="MiSans"/>
                <a:ea typeface="MiSans"/>
              </a:rPr>
              <a:t>C4 提交声明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1400" noProof="1">
                <a:solidFill>
                  <a:srgbClr val="8A7F72"/>
                </a:solidFill>
                <a:latin typeface="MiSans"/>
                <a:ea typeface="MiSans"/>
              </a:rPr>
              <a:t>如实披露，未虚构提示词或核验记录。</a:t>
            </a:r>
            <a:endParaRPr lang="en-US" sz="1400" noProof="1">
              <a:solidFill>
                <a:srgbClr val="8A7F72"/>
              </a:solidFill>
              <a:latin typeface="MiSans"/>
              <a:ea typeface="MiSans"/>
            </a:endParaRPr>
          </a:p>
        </p:txBody>
      </p:sp>
      <p:sp>
        <p:nvSpPr>
          <p:cNvPr id="14" name="note-rule"/>
          <p:cNvSpPr/>
          <p:nvPr/>
        </p:nvSpPr>
        <p:spPr>
          <a:xfrm>
            <a:off x="762000" y="5994400"/>
            <a:ext cx="10668000" cy="12700"/>
          </a:xfrm>
          <a:prstGeom prst="rect">
            <a:avLst/>
          </a:prstGeom>
          <a:solidFill>
            <a:srgbClr val="E4DACA"/>
          </a:solidFill>
          <a:ln>
            <a:noFill/>
          </a:ln>
        </p:spPr>
      </p:sp>
      <p:sp>
        <p:nvSpPr>
          <p:cNvPr id="15" name="note"/>
          <p:cNvSpPr txBox="1"/>
          <p:nvPr/>
        </p:nvSpPr>
        <p:spPr>
          <a:xfrm>
            <a:off x="762000" y="60960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100" noProof="1">
                <a:solidFill>
                  <a:srgbClr val="8A7F72"/>
                </a:solidFill>
                <a:latin typeface="MiSans"/>
                <a:ea typeface="MiSans"/>
              </a:rPr>
              <a:t>模板从报名平台下载，按模块简要填写后导出 PDF 提交；创作说明是评审了解作品过程的主要依据。</a:t>
            </a:r>
            <a:endParaRPr lang="en-US" sz="1100" noProof="1"/>
          </a:p>
        </p:txBody>
      </p:sp>
      <p:sp>
        <p:nvSpPr>
          <p:cNvPr id="16" name="footer-rule"/>
          <p:cNvSpPr/>
          <p:nvPr/>
        </p:nvSpPr>
        <p:spPr>
          <a:xfrm>
            <a:off x="762000" y="6502400"/>
            <a:ext cx="10668000" cy="12700"/>
          </a:xfrm>
          <a:prstGeom prst="rect">
            <a:avLst/>
          </a:prstGeom>
          <a:solidFill>
            <a:srgbClr val="E4DACA"/>
          </a:solidFill>
          <a:ln>
            <a:noFill/>
          </a:ln>
        </p:spPr>
      </p:sp>
      <p:sp>
        <p:nvSpPr>
          <p:cNvPr id="17" name="footer-left"/>
          <p:cNvSpPr txBox="1"/>
          <p:nvPr/>
        </p:nvSpPr>
        <p:spPr>
          <a:xfrm>
            <a:off x="762000" y="6604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8A7F72"/>
                </a:solidFill>
                <a:latin typeface="MiSans"/>
                <a:ea typeface="MiSans"/>
              </a:rPr>
              <a:t>2026第三届校园AI创作者大赛 · 赛事说明</a:t>
            </a:r>
            <a:endParaRPr lang="en-US" sz="1000" noProof="1"/>
          </a:p>
        </p:txBody>
      </p:sp>
      <p:sp>
        <p:nvSpPr>
          <p:cNvPr id="18" name="footer-page"/>
          <p:cNvSpPr txBox="1"/>
          <p:nvPr/>
        </p:nvSpPr>
        <p:spPr>
          <a:xfrm>
            <a:off x="10414000" y="66040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8A7F72"/>
                </a:solidFill>
                <a:latin typeface="MiSans"/>
                <a:ea typeface="MiSans"/>
              </a:rPr>
              <a:t>19 / 28</a:t>
            </a:r>
            <a:endParaRPr lang="en-US" sz="10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762000" y="6604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700" b="1" noProof="1">
                <a:solidFill>
                  <a:srgbClr val="2B2320"/>
                </a:solidFill>
                <a:latin typeface="思源宋体"/>
                <a:ea typeface="思源宋体"/>
              </a:rPr>
              <a:t>其他要点：参赛纪律与师生奖励</a:t>
            </a:r>
            <a:endParaRPr lang="en-US" sz="2700" noProof="1"/>
          </a:p>
        </p:txBody>
      </p:sp>
      <p:sp>
        <p:nvSpPr>
          <p:cNvPr id="4" name="title-bar"/>
          <p:cNvSpPr/>
          <p:nvPr/>
        </p:nvSpPr>
        <p:spPr>
          <a:xfrm>
            <a:off x="762000" y="1244600"/>
            <a:ext cx="431800" cy="38100"/>
          </a:xfrm>
          <a:prstGeom prst="rect">
            <a:avLst/>
          </a:prstGeom>
          <a:solidFill>
            <a:srgbClr val="A82E22"/>
          </a:solidFill>
          <a:ln>
            <a:noFill/>
          </a:ln>
        </p:spPr>
      </p:sp>
      <p:sp>
        <p:nvSpPr>
          <p:cNvPr id="5" name="left-head"/>
          <p:cNvSpPr txBox="1"/>
          <p:nvPr/>
        </p:nvSpPr>
        <p:spPr>
          <a:xfrm>
            <a:off x="762000" y="14732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A82E22"/>
                </a:solidFill>
                <a:latin typeface="思源宋体"/>
                <a:ea typeface="思源宋体"/>
              </a:rPr>
              <a:t>人工智能使用与参赛纪律</a:t>
            </a:r>
            <a:endParaRPr lang="en-US" sz="1600" noProof="1"/>
          </a:p>
        </p:txBody>
      </p:sp>
      <p:sp>
        <p:nvSpPr>
          <p:cNvPr id="6" name="left-rule"/>
          <p:cNvSpPr/>
          <p:nvPr/>
        </p:nvSpPr>
        <p:spPr>
          <a:xfrm>
            <a:off x="762000" y="1828800"/>
            <a:ext cx="5334000" cy="12700"/>
          </a:xfrm>
          <a:prstGeom prst="rect">
            <a:avLst/>
          </a:prstGeom>
          <a:solidFill>
            <a:srgbClr val="E4DACA"/>
          </a:solidFill>
          <a:ln>
            <a:noFill/>
          </a:ln>
        </p:spPr>
      </p:sp>
      <p:sp>
        <p:nvSpPr>
          <p:cNvPr id="7" name="left-body"/>
          <p:cNvSpPr txBox="1"/>
          <p:nvPr/>
        </p:nvSpPr>
        <p:spPr>
          <a:xfrm>
            <a:off x="762000" y="1981200"/>
            <a:ext cx="5334000" cy="355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b="1" noProof="1">
                <a:solidFill>
                  <a:srgbClr val="2B2320"/>
                </a:solidFill>
                <a:latin typeface="MiSans"/>
                <a:ea typeface="MiSans"/>
              </a:rPr>
              <a:t>· AI 生成内容不能作为史料或数据来源</a:t>
            </a:r>
            <a:r>
              <a:rPr lang="en-US" sz="1200" noProof="1">
                <a:solidFill>
                  <a:srgbClr val="2B2320"/>
                </a:solidFill>
                <a:latin typeface="MiSans"/>
                <a:ea typeface="MiSans"/>
              </a:rPr>
              <a:t>，事实性内容须通过正式出版物、档案、博物馆资料、政府或科研机构公开数据核验。</a:t>
            </a:r>
            <a:endParaRPr lang="en-US" sz="1200" noProof="1"/>
          </a:p>
          <a:p>
            <a:pPr algn="l">
              <a:lnSpc>
                <a:spcPct val="150000"/>
              </a:lnSpc>
              <a:spcBef>
                <a:spcPts val="700"/>
              </a:spcBef>
            </a:pPr>
            <a:r>
              <a:rPr lang="en-US" sz="1200" b="1" noProof="1">
                <a:solidFill>
                  <a:srgbClr val="2B2320"/>
                </a:solidFill>
                <a:latin typeface="MiSans"/>
                <a:ea typeface="MiSans"/>
              </a:rPr>
              <a:t>· 数据安全</a:t>
            </a:r>
            <a:r>
              <a:rPr lang="en-US" sz="1200" noProof="1">
                <a:solidFill>
                  <a:srgbClr val="2B2320"/>
                </a:solidFill>
                <a:latin typeface="MiSans"/>
                <a:ea typeface="MiSans"/>
              </a:rPr>
              <a:t>　不得将身份证件、电话号码、家庭住址、未公开校内资料、账号密码或 API 密钥输入外部模型或写入过程文件。</a:t>
            </a:r>
            <a:endParaRPr lang="en-US" sz="1200" noProof="1"/>
          </a:p>
          <a:p>
            <a:pPr algn="l">
              <a:lnSpc>
                <a:spcPct val="150000"/>
              </a:lnSpc>
              <a:spcBef>
                <a:spcPts val="700"/>
              </a:spcBef>
            </a:pPr>
            <a:r>
              <a:rPr lang="en-US" sz="1200" b="1" noProof="1">
                <a:solidFill>
                  <a:srgbClr val="2B2320"/>
                </a:solidFill>
                <a:latin typeface="MiSans"/>
                <a:ea typeface="MiSans"/>
              </a:rPr>
              <a:t>· 知识产权</a:t>
            </a:r>
            <a:r>
              <a:rPr lang="en-US" sz="1200" noProof="1">
                <a:solidFill>
                  <a:srgbClr val="2B2320"/>
                </a:solidFill>
                <a:latin typeface="MiSans"/>
                <a:ea typeface="MiSans"/>
              </a:rPr>
              <a:t>　使用他人图片、音乐、代码、字体、地图、数据、肖像或声音时，须具备允许使用和展示的授权并标明来源。</a:t>
            </a:r>
            <a:endParaRPr lang="en-US" sz="1200" noProof="1"/>
          </a:p>
          <a:p>
            <a:pPr algn="l">
              <a:lnSpc>
                <a:spcPct val="150000"/>
              </a:lnSpc>
              <a:spcBef>
                <a:spcPts val="700"/>
              </a:spcBef>
            </a:pPr>
            <a:r>
              <a:rPr lang="en-US" sz="1200" b="1" noProof="1">
                <a:solidFill>
                  <a:srgbClr val="2B2320"/>
                </a:solidFill>
                <a:latin typeface="MiSans"/>
                <a:ea typeface="MiSans"/>
              </a:rPr>
              <a:t>· 权利约定</a:t>
            </a:r>
            <a:r>
              <a:rPr lang="en-US" sz="1200" noProof="1">
                <a:solidFill>
                  <a:srgbClr val="2B2320"/>
                </a:solidFill>
                <a:latin typeface="MiSans"/>
                <a:ea typeface="MiSans"/>
              </a:rPr>
              <a:t>　作者及团队对参赛作品享有相应权利；提交作品即视为同意组委会为参赛审核、评审和结果核查使用作品，同意学校在非商业性质的教学、校园展览和活动宣传中使用。</a:t>
            </a:r>
            <a:endParaRPr lang="en-US" sz="1200" noProof="1"/>
          </a:p>
        </p:txBody>
      </p:sp>
      <p:sp>
        <p:nvSpPr>
          <p:cNvPr id="8" name="col-divider"/>
          <p:cNvSpPr/>
          <p:nvPr/>
        </p:nvSpPr>
        <p:spPr>
          <a:xfrm>
            <a:off x="6350000" y="1473200"/>
            <a:ext cx="12700" cy="4064000"/>
          </a:xfrm>
          <a:prstGeom prst="rect">
            <a:avLst/>
          </a:prstGeom>
          <a:solidFill>
            <a:srgbClr val="E4DACA"/>
          </a:solidFill>
          <a:ln>
            <a:noFill/>
          </a:ln>
        </p:spPr>
      </p:sp>
      <p:sp>
        <p:nvSpPr>
          <p:cNvPr id="9" name="right-head"/>
          <p:cNvSpPr txBox="1"/>
          <p:nvPr/>
        </p:nvSpPr>
        <p:spPr>
          <a:xfrm>
            <a:off x="6654800" y="1473200"/>
            <a:ext cx="4775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A82E22"/>
                </a:solidFill>
                <a:latin typeface="思源宋体"/>
                <a:ea typeface="思源宋体"/>
              </a:rPr>
              <a:t>联合学校总校师生奖励</a:t>
            </a:r>
            <a:endParaRPr lang="en-US" sz="1600" noProof="1"/>
          </a:p>
        </p:txBody>
      </p:sp>
      <p:sp>
        <p:nvSpPr>
          <p:cNvPr id="10" name="right-rule"/>
          <p:cNvSpPr/>
          <p:nvPr/>
        </p:nvSpPr>
        <p:spPr>
          <a:xfrm>
            <a:off x="6654800" y="1828800"/>
            <a:ext cx="4775200" cy="12700"/>
          </a:xfrm>
          <a:prstGeom prst="rect">
            <a:avLst/>
          </a:prstGeom>
          <a:solidFill>
            <a:srgbClr val="E4DACA"/>
          </a:solidFill>
          <a:ln>
            <a:noFill/>
          </a:ln>
        </p:spPr>
      </p:sp>
      <p:sp>
        <p:nvSpPr>
          <p:cNvPr id="11" name="right-body"/>
          <p:cNvSpPr txBox="1"/>
          <p:nvPr/>
        </p:nvSpPr>
        <p:spPr>
          <a:xfrm>
            <a:off x="6654800" y="1981200"/>
            <a:ext cx="4775200" cy="304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b="1" noProof="1">
                <a:solidFill>
                  <a:srgbClr val="2B2320"/>
                </a:solidFill>
                <a:latin typeface="MiSans"/>
                <a:ea typeface="MiSans"/>
              </a:rPr>
              <a:t>· 学生奖励</a:t>
            </a:r>
            <a:r>
              <a:rPr lang="en-US" sz="1200" noProof="1">
                <a:solidFill>
                  <a:srgbClr val="2B2320"/>
                </a:solidFill>
                <a:latin typeface="MiSans"/>
                <a:ea typeface="MiSans"/>
              </a:rPr>
              <a:t>　对进入联合复评及获奖的学生，通过颁发证书、通报表彰等方式予以奖励。</a:t>
            </a:r>
            <a:endParaRPr lang="en-US" sz="1200" noProof="1"/>
          </a:p>
          <a:p>
            <a:pPr algn="l">
              <a:lnSpc>
                <a:spcPct val="150000"/>
              </a:lnSpc>
              <a:spcBef>
                <a:spcPts val="700"/>
              </a:spcBef>
            </a:pPr>
            <a:r>
              <a:rPr lang="en-US" sz="1200" b="1" noProof="1">
                <a:solidFill>
                  <a:srgbClr val="2B2320"/>
                </a:solidFill>
                <a:latin typeface="MiSans"/>
                <a:ea typeface="MiSans"/>
              </a:rPr>
              <a:t>· 教师与学校奖励</a:t>
            </a:r>
            <a:r>
              <a:rPr lang="en-US" sz="1200" noProof="1">
                <a:solidFill>
                  <a:srgbClr val="2B2320"/>
                </a:solidFill>
                <a:latin typeface="MiSans"/>
                <a:ea typeface="MiSans"/>
              </a:rPr>
              <a:t>　根据各校的活动组织、学生指导和评审参与情况，评选优秀组织学校、优秀活动组织教师和优秀评审教师。</a:t>
            </a:r>
            <a:endParaRPr lang="en-US" sz="1200" noProof="1"/>
          </a:p>
          <a:p>
            <a:pPr algn="l">
              <a:lnSpc>
                <a:spcPct val="150000"/>
              </a:lnSpc>
              <a:spcBef>
                <a:spcPts val="700"/>
              </a:spcBef>
            </a:pPr>
            <a:r>
              <a:rPr lang="en-US" sz="1200" b="1" noProof="1">
                <a:solidFill>
                  <a:srgbClr val="2B2320"/>
                </a:solidFill>
                <a:latin typeface="MiSans"/>
                <a:ea typeface="MiSans"/>
              </a:rPr>
              <a:t>· 作品展示</a:t>
            </a:r>
            <a:r>
              <a:rPr lang="en-US" sz="1200" noProof="1">
                <a:solidFill>
                  <a:srgbClr val="2B2320"/>
                </a:solidFill>
                <a:latin typeface="MiSans"/>
                <a:ea typeface="MiSans"/>
              </a:rPr>
              <a:t>　获奖作品经历史、地理、政治等相关学科部门审核通过后，在活动平台及校园展示活动中展出。</a:t>
            </a:r>
            <a:endParaRPr lang="en-US" sz="1200" noProof="1"/>
          </a:p>
          <a:p>
            <a:pPr algn="l">
              <a:lnSpc>
                <a:spcPct val="150000"/>
              </a:lnSpc>
              <a:spcBef>
                <a:spcPts val="700"/>
              </a:spcBef>
            </a:pPr>
            <a:r>
              <a:rPr lang="en-US" sz="1200" b="1" noProof="1">
                <a:solidFill>
                  <a:srgbClr val="2B2320"/>
                </a:solidFill>
                <a:latin typeface="MiSans"/>
                <a:ea typeface="MiSans"/>
              </a:rPr>
              <a:t>· 校内认定</a:t>
            </a:r>
            <a:r>
              <a:rPr lang="en-US" sz="1200" noProof="1">
                <a:solidFill>
                  <a:srgbClr val="2B2320"/>
                </a:solidFill>
                <a:latin typeface="MiSans"/>
                <a:ea typeface="MiSans"/>
              </a:rPr>
              <a:t>　各校结合实际制定本校奖励和工作认定办法。</a:t>
            </a:r>
            <a:endParaRPr lang="en-US" sz="1200" noProof="1"/>
          </a:p>
        </p:txBody>
      </p:sp>
      <p:sp>
        <p:nvSpPr>
          <p:cNvPr id="12" name="remind-rule"/>
          <p:cNvSpPr/>
          <p:nvPr/>
        </p:nvSpPr>
        <p:spPr>
          <a:xfrm>
            <a:off x="762000" y="5689600"/>
            <a:ext cx="10668000" cy="12700"/>
          </a:xfrm>
          <a:prstGeom prst="rect">
            <a:avLst/>
          </a:prstGeom>
          <a:solidFill>
            <a:srgbClr val="E4DACA"/>
          </a:solidFill>
          <a:ln>
            <a:noFill/>
          </a:ln>
        </p:spPr>
      </p:sp>
      <p:sp>
        <p:nvSpPr>
          <p:cNvPr id="13" name="remind"/>
          <p:cNvSpPr txBox="1"/>
          <p:nvPr/>
        </p:nvSpPr>
        <p:spPr>
          <a:xfrm>
            <a:off x="762000" y="58420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b="1" noProof="1">
                <a:solidFill>
                  <a:srgbClr val="A82E22"/>
                </a:solidFill>
                <a:latin typeface="MiSans"/>
                <a:ea typeface="MiSans"/>
              </a:rPr>
              <a:t>三点提醒</a:t>
            </a:r>
            <a:r>
              <a:rPr lang="en-US" sz="1200" noProof="1">
                <a:solidFill>
                  <a:srgbClr val="2B2320"/>
                </a:solidFill>
                <a:latin typeface="MiSans"/>
                <a:ea typeface="MiSans"/>
              </a:rPr>
              <a:t>　本活动与升学无关 ｜ 截止后不接受私发文件替代正式提交 ｜ 作品更新、删除须在截止前联系本校管理员教师办理，不得重复提交形成多个版本。</a:t>
            </a:r>
            <a:endParaRPr lang="en-US" sz="1200" noProof="1"/>
          </a:p>
        </p:txBody>
      </p:sp>
      <p:sp>
        <p:nvSpPr>
          <p:cNvPr id="14" name="footer-rule"/>
          <p:cNvSpPr/>
          <p:nvPr/>
        </p:nvSpPr>
        <p:spPr>
          <a:xfrm>
            <a:off x="762000" y="6502400"/>
            <a:ext cx="10668000" cy="12700"/>
          </a:xfrm>
          <a:prstGeom prst="rect">
            <a:avLst/>
          </a:prstGeom>
          <a:solidFill>
            <a:srgbClr val="E4DACA"/>
          </a:solidFill>
          <a:ln>
            <a:noFill/>
          </a:ln>
        </p:spPr>
      </p:sp>
      <p:sp>
        <p:nvSpPr>
          <p:cNvPr id="15" name="footer-left"/>
          <p:cNvSpPr txBox="1"/>
          <p:nvPr/>
        </p:nvSpPr>
        <p:spPr>
          <a:xfrm>
            <a:off x="762000" y="6604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8A7F72"/>
                </a:solidFill>
                <a:latin typeface="MiSans"/>
                <a:ea typeface="MiSans"/>
              </a:rPr>
              <a:t>2026第三届校园AI创作者大赛 · 赛事说明</a:t>
            </a:r>
            <a:endParaRPr lang="en-US" sz="1000" noProof="1"/>
          </a:p>
        </p:txBody>
      </p:sp>
      <p:sp>
        <p:nvSpPr>
          <p:cNvPr id="16" name="footer-page"/>
          <p:cNvSpPr txBox="1"/>
          <p:nvPr/>
        </p:nvSpPr>
        <p:spPr>
          <a:xfrm>
            <a:off x="10414000" y="66040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8A7F72"/>
                </a:solidFill>
                <a:latin typeface="MiSans"/>
                <a:ea typeface="MiSans"/>
              </a:rPr>
              <a:t>27 / 28</a:t>
            </a:r>
            <a:endParaRPr lang="en-US" sz="10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5718</Words>
  <Application>WPS 演示</Application>
  <PresentationFormat/>
  <Paragraphs>396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0" baseType="lpstr">
      <vt:lpstr>Arial</vt:lpstr>
      <vt:lpstr>宋体</vt:lpstr>
      <vt:lpstr>Wingdings</vt:lpstr>
      <vt:lpstr>MiSans</vt:lpstr>
      <vt:lpstr>MiSans Heavy</vt:lpstr>
      <vt:lpstr>思源宋体</vt:lpstr>
      <vt:lpstr>Times New Roman</vt:lpstr>
      <vt:lpstr>微软雅黑</vt:lpstr>
      <vt:lpstr>Arial Unicode MS</vt:lpstr>
      <vt:lpstr>Calibri</vt:lpstr>
      <vt:lpstr>MiSans</vt:lpstr>
      <vt:lpstr>Times New Roman</vt:lpstr>
      <vt:lpstr>思源宋体</vt:lpstr>
      <vt:lpstr>MiSans Semibold</vt:lpstr>
      <vt:lpstr>兰米宋体</vt:lpstr>
      <vt:lpstr>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/>
  <cp:lastModifiedBy>徐巍</cp:lastModifiedBy>
  <cp:revision>4</cp:revision>
  <dcterms:created xsi:type="dcterms:W3CDTF">2026-09-28T04:20:00Z</dcterms:created>
  <dcterms:modified xsi:type="dcterms:W3CDTF">2026-09-29T11:42:01Z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  <property fmtid="{D5CDD505-2E9C-101B-9397-08002B2CF9AE}" pid="3" name="ICV">
    <vt:lpwstr>ED4B57300F394E6C910BB3D445790FAB_13</vt:lpwstr>
  </property>
  <property fmtid="{D5CDD505-2E9C-101B-9397-08002B2CF9AE}" pid="4" name="KSOProductBuildVer">
    <vt:lpwstr>2052-12.1.0.28505</vt:lpwstr>
  </property>
</Properties>
</file>